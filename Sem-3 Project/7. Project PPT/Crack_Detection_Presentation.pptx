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rts/chart1.xml" ContentType="application/vnd.openxmlformats-officedocument.drawingml.chart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rts/chart2.xml" ContentType="application/vnd.openxmlformats-officedocument.drawingml.chart+xml"/>
  <Override PartName="/ppt/notesSlides/notesSlide49.xml" ContentType="application/vnd.openxmlformats-officedocument.presentationml.notesSlide+xml"/>
  <Override PartName="/ppt/charts/chart3.xml" ContentType="application/vnd.openxmlformats-officedocument.drawingml.chart+xml"/>
  <Override PartName="/ppt/notesSlides/notesSlide50.xml" ContentType="application/vnd.openxmlformats-officedocument.presentationml.notesSlide+xml"/>
  <Override PartName="/ppt/charts/chart4.xml" ContentType="application/vnd.openxmlformats-officedocument.drawingml.chart+xml"/>
  <Override PartName="/ppt/notesSlides/notesSlide51.xml" ContentType="application/vnd.openxmlformats-officedocument.presentationml.notesSlide+xml"/>
  <Override PartName="/ppt/charts/chart5.xml" ContentType="application/vnd.openxmlformats-officedocument.drawingml.chart+xml"/>
  <Override PartName="/ppt/notesSlides/notesSlide52.xml" ContentType="application/vnd.openxmlformats-officedocument.presentationml.notesSlide+xml"/>
  <Override PartName="/ppt/charts/chart6.xml" ContentType="application/vnd.openxmlformats-officedocument.drawingml.chart+xml"/>
  <Override PartName="/ppt/notesSlides/notesSlide53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ject Overview" id="{4C73AE03-60BB-5A51-DBE5-64BFA9D571F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Technology &amp; Design" id="{70EB6422-912A-437B-D912-5D914ACDDE9D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Processing Pipeline" id="{5B08DF28-A089-6445-D288-373A6AE99730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The Nine Models" id="{02FF42EA-FAC0-1CFC-737F-19DBCB5FE9EF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Database" id="{594976CD-CF0F-F509-3A99-E2513D886B8D}">
          <p14:sldIdLst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Implementation" id="{79D7876B-B10F-F1CF-8FB5-CA55B9EBDD6A}">
          <p14:sldIdLst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Testing &amp; Results" id="{50AAE72A-179D-DA9F-DFEE-E5EDD564D91D}">
          <p14:sldIdLst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</p14:sldIdLst>
        </p14:section>
        <p14:section name="Wrap-up" id="{FE9B89FE-5E6E-AB77-53EB-FBECF7D509F5}">
          <p14:sldIdLst>
            <p14:sldId id="310"/>
            <p14:sldId id="311"/>
            <p14:sldId id="312"/>
            <p14:sldId id="313"/>
          </p14:sldIdLst>
        </p14:section>
        <p14:section name="Default-1" id="{9596E7AA-BADB-1F94-F41D-4355B1068C1C}">
          <p14:sldIdLst>
            <p14:sldId id="31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26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2262B"/>
                </a:solidFill>
                <a:latin typeface="+mn-lt"/>
              </a:rPr>
              <a:t>Lines of code per folder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Lines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62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services</c:v>
                </c:pt>
                <c:pt idx="1">
                  <c:v>routes</c:v>
                </c:pt>
                <c:pt idx="2">
                  <c:v>tests</c:v>
                </c:pt>
                <c:pt idx="3">
                  <c:v>top level</c:v>
                </c:pt>
                <c:pt idx="4">
                  <c:v>models</c:v>
                </c:pt>
                <c:pt idx="5">
                  <c:v>static</c:v>
                </c:pt>
                <c:pt idx="6">
                  <c:v>templates</c:v>
                </c:pt>
                <c:pt idx="7">
                  <c:v>utils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786</c:v>
                </c:pt>
                <c:pt idx="1">
                  <c:v>344</c:v>
                </c:pt>
                <c:pt idx="2">
                  <c:v>260</c:v>
                </c:pt>
                <c:pt idx="3">
                  <c:v>180</c:v>
                </c:pt>
                <c:pt idx="4">
                  <c:v>158</c:v>
                </c:pt>
                <c:pt idx="5">
                  <c:v>145</c:v>
                </c:pt>
                <c:pt idx="6">
                  <c:v>59</c:v>
                </c:pt>
                <c:pt idx="7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41-40DE-B239-79B5508853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5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262B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22262B"/>
                </a:solidFill>
                <a:latin typeface="+mn-lt"/>
              </a:rPr>
              <a:t>22 test cases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24D-4BB9-BEDF-05C7C471A65D}"/>
              </c:ext>
            </c:extLst>
          </c:dPt>
          <c:dPt>
            <c:idx val="1"/>
            <c:bubble3D val="0"/>
            <c:spPr>
              <a:solidFill>
                <a:srgbClr val="2F8F8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24D-4BB9-BEDF-05C7C471A65D}"/>
              </c:ext>
            </c:extLst>
          </c:dPt>
          <c:dPt>
            <c:idx val="2"/>
            <c:bubble3D val="0"/>
            <c:spPr>
              <a:solidFill>
                <a:srgbClr val="4A90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24D-4BB9-BEDF-05C7C471A65D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4D-4BB9-BEDF-05C7C471A65D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4D-4BB9-BEDF-05C7C471A65D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4D-4BB9-BEDF-05C7C471A65D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Automated tests</c:v>
                </c:pt>
                <c:pt idx="1">
                  <c:v>Browser + exports</c:v>
                </c:pt>
                <c:pt idx="2">
                  <c:v>Experiments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</c:v>
                </c:pt>
                <c:pt idx="1">
                  <c:v>4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24D-4BB9-BEDF-05C7C471A6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2226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26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2262B"/>
                </a:solidFill>
                <a:latin typeface="+mn-lt"/>
              </a:rPr>
              <a:t>Measured vs true width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</c:v>
                </c:pt>
              </c:strCache>
            </c:strRef>
          </c:tx>
          <c:spPr>
            <a:ln w="25400" cap="flat">
              <a:solidFill>
                <a:srgbClr val="8892A0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8892A0"/>
              </a:solidFill>
              <a:ln w="9525" cap="flat">
                <a:solidFill>
                  <a:srgbClr val="8892A0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  <c:pt idx="4">
                  <c:v>11</c:v>
                </c:pt>
                <c:pt idx="5">
                  <c:v>13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  <c:pt idx="4">
                  <c:v>11</c:v>
                </c:pt>
                <c:pt idx="5">
                  <c:v>13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513-4E59-9999-51C8E4BF6B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Measured mean width</c:v>
                </c:pt>
              </c:strCache>
            </c:strRef>
          </c:tx>
          <c:spPr>
            <a:ln w="25400" cap="flat">
              <a:solidFill>
                <a:srgbClr val="2F8F83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2F8F83"/>
              </a:solidFill>
              <a:ln w="9525" cap="flat">
                <a:solidFill>
                  <a:srgbClr val="2F8F83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  <c:pt idx="4">
                  <c:v>11</c:v>
                </c:pt>
                <c:pt idx="5">
                  <c:v>13</c:v>
                </c:pt>
              </c:numCache>
            </c:numRef>
          </c:xVal>
          <c:yVal>
            <c:numRef>
              <c:f>Sheet1!$C$2:$C$7</c:f>
              <c:numCache>
                <c:formatCode>General</c:formatCode>
                <c:ptCount val="6"/>
                <c:pt idx="0">
                  <c:v>2.8</c:v>
                </c:pt>
                <c:pt idx="1">
                  <c:v>5.6</c:v>
                </c:pt>
                <c:pt idx="2">
                  <c:v>7.19</c:v>
                </c:pt>
                <c:pt idx="3">
                  <c:v>8.7899999999999991</c:v>
                </c:pt>
                <c:pt idx="4">
                  <c:v>10.79</c:v>
                </c:pt>
                <c:pt idx="5">
                  <c:v>12.79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513-4E59-9999-51C8E4BF6B2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Maximum width (P95)</c:v>
                </c:pt>
              </c:strCache>
            </c:strRef>
          </c:tx>
          <c:spPr>
            <a:ln w="25400" cap="flat">
              <a:solidFill>
                <a:srgbClr val="F5A623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  <c:pt idx="4">
                  <c:v>11</c:v>
                </c:pt>
                <c:pt idx="5">
                  <c:v>13</c:v>
                </c:pt>
              </c:numCache>
            </c:numRef>
          </c:xVal>
          <c:yVal>
            <c:numRef>
              <c:f>Sheet1!$D$2:$D$7</c:f>
              <c:numCache>
                <c:formatCode>General</c:formatCode>
                <c:ptCount val="6"/>
                <c:pt idx="0">
                  <c:v>4</c:v>
                </c:pt>
                <c:pt idx="1">
                  <c:v>6</c:v>
                </c:pt>
                <c:pt idx="2">
                  <c:v>8</c:v>
                </c:pt>
                <c:pt idx="3">
                  <c:v>10</c:v>
                </c:pt>
                <c:pt idx="4">
                  <c:v>12</c:v>
                </c:pt>
                <c:pt idx="5">
                  <c:v>14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0513-4E59-9999-51C8E4BF6B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4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22262B"/>
                    </a:solidFill>
                    <a:latin typeface="+mn-lt"/>
                  </a:defRPr>
                </a:pPr>
                <a:r>
                  <a:rPr b="0" i="0" u="none" strike="noStrike">
                    <a:solidFill>
                      <a:srgbClr val="22262B"/>
                    </a:solidFill>
                    <a:latin typeface="+mn-lt"/>
                  </a:rPr>
                  <a:t>True width (px)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5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15"/>
          <c:min val="0"/>
        </c:scaling>
        <c:delete val="0"/>
        <c:axPos val="l"/>
        <c:majorGridlines>
          <c:spPr>
            <a:ln w="9525" cap="flat">
              <a:solidFill>
                <a:srgbClr val="D5D9D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22262B"/>
                    </a:solidFill>
                    <a:latin typeface="+mn-lt"/>
                  </a:defRPr>
                </a:pPr>
                <a:r>
                  <a:rPr b="0" i="0" u="none" strike="noStrike">
                    <a:solidFill>
                      <a:srgbClr val="22262B"/>
                    </a:solidFill>
                    <a:latin typeface="+mn-lt"/>
                  </a:rPr>
                  <a:t>Measured (px)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55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2226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26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2262B"/>
                </a:solidFill>
                <a:latin typeface="+mn-lt"/>
              </a:rPr>
              <a:t>Mean-width error by test (teal = narrower, red = wider)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(px)</c:v>
                </c:pt>
              </c:strCache>
            </c:strRef>
          </c:tx>
          <c:spPr>
            <a:solidFill>
              <a:srgbClr val="2F8F8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D66-4534-9A20-67A1B368B70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D66-4534-9A20-67A1B368B70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D66-4534-9A20-67A1B368B70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D66-4534-9A20-67A1B368B70C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D66-4534-9A20-67A1B368B70C}"/>
              </c:ext>
            </c:extLst>
          </c:dPt>
          <c:dPt>
            <c:idx val="5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D66-4534-9A20-67A1B368B70C}"/>
              </c:ext>
            </c:extLst>
          </c:dPt>
          <c:dPt>
            <c:idx val="6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D66-4534-9A20-67A1B368B70C}"/>
              </c:ext>
            </c:extLst>
          </c:dPt>
          <c:dPt>
            <c:idx val="7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D66-4534-9A20-67A1B368B70C}"/>
              </c:ext>
            </c:extLst>
          </c:dPt>
          <c:dLbls>
            <c:numFmt formatCode="\+0.00;\-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62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3 px</c:v>
                </c:pt>
                <c:pt idx="1">
                  <c:v>5 px</c:v>
                </c:pt>
                <c:pt idx="2">
                  <c:v>5 px</c:v>
                </c:pt>
                <c:pt idx="3">
                  <c:v>7 px</c:v>
                </c:pt>
                <c:pt idx="4">
                  <c:v>7 px</c:v>
                </c:pt>
                <c:pt idx="5">
                  <c:v>9 px</c:v>
                </c:pt>
                <c:pt idx="6">
                  <c:v>11 px</c:v>
                </c:pt>
                <c:pt idx="7">
                  <c:v>13 px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-0.2</c:v>
                </c:pt>
                <c:pt idx="1">
                  <c:v>0.6</c:v>
                </c:pt>
                <c:pt idx="2">
                  <c:v>0.6</c:v>
                </c:pt>
                <c:pt idx="3">
                  <c:v>0.19</c:v>
                </c:pt>
                <c:pt idx="4">
                  <c:v>0.19</c:v>
                </c:pt>
                <c:pt idx="5">
                  <c:v>-0.21</c:v>
                </c:pt>
                <c:pt idx="6">
                  <c:v>-0.21</c:v>
                </c:pt>
                <c:pt idx="7">
                  <c:v>-0.21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1D66-4534-9A20-67A1B368B70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5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-1"/>
        </c:scaling>
        <c:delete val="0"/>
        <c:axPos val="l"/>
        <c:majorGridlines>
          <c:spPr>
            <a:ln w="9525" cap="flat">
              <a:solidFill>
                <a:srgbClr val="D5D9D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22262B"/>
                    </a:solidFill>
                    <a:latin typeface="+mn-lt"/>
                  </a:defRPr>
                </a:pPr>
                <a:r>
                  <a:rPr b="0" i="0" u="none" strike="noStrike">
                    <a:solidFill>
                      <a:srgbClr val="22262B"/>
                    </a:solidFill>
                    <a:latin typeface="+mn-lt"/>
                  </a:rPr>
                  <a:t>Measured − true (px)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55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26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2262B"/>
                </a:solidFill>
                <a:latin typeface="+mn-lt"/>
              </a:rPr>
              <a:t>Detected crack length vs contrast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Detected length (px)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62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15</c:v>
                </c:pt>
                <c:pt idx="1">
                  <c:v>25</c:v>
                </c:pt>
                <c:pt idx="2">
                  <c:v>35</c:v>
                </c:pt>
                <c:pt idx="3">
                  <c:v>50</c:v>
                </c:pt>
                <c:pt idx="4">
                  <c:v>70</c:v>
                </c:pt>
                <c:pt idx="5">
                  <c:v>95</c:v>
                </c:pt>
                <c:pt idx="6">
                  <c:v>130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609.6</c:v>
                </c:pt>
                <c:pt idx="3">
                  <c:v>609.6</c:v>
                </c:pt>
                <c:pt idx="4">
                  <c:v>609.6</c:v>
                </c:pt>
                <c:pt idx="5">
                  <c:v>609.6</c:v>
                </c:pt>
                <c:pt idx="6">
                  <c:v>609.6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79-4CFB-B82F-459E2EF8EB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22262B"/>
                    </a:solidFill>
                    <a:latin typeface="+mn-lt"/>
                  </a:defRPr>
                </a:pPr>
                <a:r>
                  <a:rPr b="0" i="0" u="none" strike="noStrike">
                    <a:solidFill>
                      <a:srgbClr val="22262B"/>
                    </a:solidFill>
                    <a:latin typeface="+mn-lt"/>
                  </a:rPr>
                  <a:t>Crack contrast (grey levels)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5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0"/>
          <c:min val="0"/>
        </c:scaling>
        <c:delete val="0"/>
        <c:axPos val="l"/>
        <c:majorGridlines>
          <c:spPr>
            <a:ln w="9525" cap="flat">
              <a:solidFill>
                <a:srgbClr val="D5D9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55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26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2262B"/>
                </a:solidFill>
                <a:latin typeface="+mn-lt"/>
              </a:rPr>
              <a:t>Length error (%) by angle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Length error (%)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F8F8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A6A-4AB8-8D0C-07C5FC328D8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A6A-4AB8-8D0C-07C5FC328D8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A6A-4AB8-8D0C-07C5FC328D8F}"/>
              </c:ext>
            </c:extLst>
          </c:dPt>
          <c:dPt>
            <c:idx val="3"/>
            <c:invertIfNegative val="0"/>
            <c:bubble3D val="0"/>
            <c:spPr>
              <a:solidFill>
                <a:srgbClr val="2F8F8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A6A-4AB8-8D0C-07C5FC328D8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3A6A-4AB8-8D0C-07C5FC328D8F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3A6A-4AB8-8D0C-07C5FC328D8F}"/>
              </c:ext>
            </c:extLst>
          </c:dPt>
          <c:dPt>
            <c:idx val="6"/>
            <c:invertIfNegative val="0"/>
            <c:bubble3D val="0"/>
            <c:spPr>
              <a:solidFill>
                <a:srgbClr val="2F8F8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A6A-4AB8-8D0C-07C5FC328D8F}"/>
              </c:ext>
            </c:extLst>
          </c:dPt>
          <c:dLbls>
            <c:numFmt formatCode="\+0.0;\-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62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0°</c:v>
                </c:pt>
                <c:pt idx="1">
                  <c:v>15°</c:v>
                </c:pt>
                <c:pt idx="2">
                  <c:v>30°</c:v>
                </c:pt>
                <c:pt idx="3">
                  <c:v>45°</c:v>
                </c:pt>
                <c:pt idx="4">
                  <c:v>60°</c:v>
                </c:pt>
                <c:pt idx="5">
                  <c:v>75°</c:v>
                </c:pt>
                <c:pt idx="6">
                  <c:v>90°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-1</c:v>
                </c:pt>
                <c:pt idx="1">
                  <c:v>6.8</c:v>
                </c:pt>
                <c:pt idx="2">
                  <c:v>7.1</c:v>
                </c:pt>
                <c:pt idx="3">
                  <c:v>-0.4</c:v>
                </c:pt>
                <c:pt idx="4">
                  <c:v>6.4</c:v>
                </c:pt>
                <c:pt idx="5">
                  <c:v>6.2</c:v>
                </c:pt>
                <c:pt idx="6">
                  <c:v>-1.2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A6A-4AB8-8D0C-07C5FC328D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22262B"/>
                    </a:solidFill>
                    <a:latin typeface="+mn-lt"/>
                  </a:defRPr>
                </a:pPr>
                <a:r>
                  <a:rPr b="0" i="0" u="none" strike="noStrike">
                    <a:solidFill>
                      <a:srgbClr val="22262B"/>
                    </a:solidFill>
                    <a:latin typeface="+mn-lt"/>
                  </a:rPr>
                  <a:t>Line angle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5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"/>
          <c:min val="-3"/>
        </c:scaling>
        <c:delete val="0"/>
        <c:axPos val="l"/>
        <c:majorGridlines>
          <c:spPr>
            <a:ln w="9525" cap="flat">
              <a:solidFill>
                <a:srgbClr val="D5D9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55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26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2262B"/>
                </a:solidFill>
                <a:latin typeface="+mn-lt"/>
              </a:rPr>
              <a:t>Seconds per image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4A90C2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62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640 × 480</c:v>
                </c:pt>
                <c:pt idx="1">
                  <c:v>1024 × 768</c:v>
                </c:pt>
                <c:pt idx="2">
                  <c:v>1600 × 1200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3.1E-2</c:v>
                </c:pt>
                <c:pt idx="1">
                  <c:v>7.9000000000000001E-2</c:v>
                </c:pt>
                <c:pt idx="2">
                  <c:v>0.157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04-44B2-9687-E7871AEC12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5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2"/>
        </c:scaling>
        <c:delete val="0"/>
        <c:axPos val="l"/>
        <c:majorGridlines>
          <c:spPr>
            <a:ln w="9525" cap="flat">
              <a:solidFill>
                <a:srgbClr val="D5D9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55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26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2262B"/>
                </a:solidFill>
                <a:latin typeface="+mn-lt"/>
              </a:rPr>
              <a:t>Time by stage (1024 × 768)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117-47D6-95C9-CC5E3E208B5A}"/>
              </c:ext>
            </c:extLst>
          </c:dPt>
          <c:dPt>
            <c:idx val="1"/>
            <c:bubble3D val="0"/>
            <c:spPr>
              <a:solidFill>
                <a:srgbClr val="2F8F8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117-47D6-95C9-CC5E3E208B5A}"/>
              </c:ext>
            </c:extLst>
          </c:dPt>
          <c:dPt>
            <c:idx val="2"/>
            <c:bubble3D val="0"/>
            <c:spPr>
              <a:solidFill>
                <a:srgbClr val="4A90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117-47D6-95C9-CC5E3E208B5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5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117-47D6-95C9-CC5E3E208B5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5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117-47D6-95C9-CC5E3E208B5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5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117-47D6-95C9-CC5E3E208B5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Pre-processing</c:v>
                </c:pt>
                <c:pt idx="1">
                  <c:v>Detection</c:v>
                </c:pt>
                <c:pt idx="2">
                  <c:v>Measurement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2.0799999999999999E-2</c:v>
                </c:pt>
                <c:pt idx="1">
                  <c:v>1.6799999999999999E-2</c:v>
                </c:pt>
                <c:pt idx="2">
                  <c:v>5.7000000000000002E-2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117-47D6-95C9-CC5E3E208B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2226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0900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web application that finds cracks in photos and measures their length and width using classical computer 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parts. The slide numbers show where each part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one: the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of the project from the project details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Inspection is slow, subjective and poorly recorded.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objectives from upload to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neural network and no GPU. A classical computer-vision pipeline plus a rule-based severity classifier.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Trade-off: classical is transparent and light, deep learning is stronger on unseen textures.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open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main building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Presentation, application, processing and data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Upload, analyse, review,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Level-1 data flow diagram and the use-case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Eleven steps. Each saves an image so it can be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Resize, remove noise, boost contrast, highlight dark lines, threshold and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Filter shapes, join pieces, thin to a line, measure width, convert to mm.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real images produced by the application for one synthetic crack.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adaptive threshold adapts to uneven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Specks are removed, then only long thin shapes are kept.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non-crack images were tested; all were rejected.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methods, each with one clear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Enhance contrast, isolate dark lines, then threshold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gaps, link pieces, reject blobs by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Skeleton for length, distance transform for width, rules for severity.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skeleton is a one-pixel centre line; the distance transform gives the radius to the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Distance values rise to 3 at the centre, so width = 2 × 3.0 = 6.0 px, one pixel above the true 5 px.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Length sums skeleton links, widths use median and 95th percentile, mm = px divided by pixels-per-mm.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label based on mean width and area. It is not a structural safety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Analyses contain images; images contain cracks.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fields of the analysis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fields of the image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fields of one crack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Analysis has many images; each image has many cracks.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six.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folder has one responsibility.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services folder contains the processing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1,990 lines 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Upload to start, History to revisit.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Screenshots use synthetic test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image shows the original, the annotated result, the mask and every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two-image test produced a 34-column CSV, a 33-page PDF and a ZIP of 35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ways to start the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seven. All numbers come from running the code on synthetic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automated tests passed; four more checks covered the browser flow and exports; two experiments.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Bars of known width on a noisy background; the measured mean follows the true width.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Largest error +0.6 px; thin bars have the largest relative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Below about 30 grey levels of contrast nothing is detected; above that the length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0, 45 and 90 degrees accurate; elsewhere 6 to 7 percent too long. Known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Measurement is the largest share of the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Input, annotated result, skeleton and width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is synthetic, scale is fixed, faint cracks are missed, no login.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datasets, length fix, per-image scale, hybrid model,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Detects and measures cracks with no training data, shows every stage, exports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77440"/>
            <a:ext cx="10058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703320"/>
            <a:ext cx="91440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7.png"/><Relationship Id="rId4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png"/><Relationship Id="rId5" Type="http://schemas.openxmlformats.org/officeDocument/2006/relationships/image" Target="../media/image9.png"/><Relationship Id="rId4" Type="http://schemas.openxmlformats.org/officeDocument/2006/relationships/image" Target="../media/image4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"/>
          <p:cNvSpPr txBox="1"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chemeClr val="accent1"/>
                </a:solidFill>
              </a:rPr>
              <a:t>MCA MAJOR PROJECT</a:t>
            </a:r>
            <a:endParaRPr lang="en-US" sz="1600" dirty="0"/>
          </a:p>
        </p:txBody>
      </p:sp>
      <p:sp>
        <p:nvSpPr>
          <p:cNvPr id="4" name="Deck title"/>
          <p:cNvSpPr txBox="1"/>
          <p:nvPr/>
        </p:nvSpPr>
        <p:spPr>
          <a:xfrm>
            <a:off x="822960" y="137160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OpenCV-Based System for Crack Identification and Width Estimation</a:t>
            </a:r>
            <a:endParaRPr lang="en-US" sz="4000" dirty="0"/>
          </a:p>
        </p:txBody>
      </p:sp>
      <p:sp>
        <p:nvSpPr>
          <p:cNvPr id="5" name="Author block"/>
          <p:cNvSpPr txBox="1"/>
          <p:nvPr/>
        </p:nvSpPr>
        <p:spPr>
          <a:xfrm>
            <a:off x="822960" y="420624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2"/>
                </a:solidFill>
              </a:rPr>
              <a:t>PATEL MAN VISHNUBHAI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Enrollment No. 25IC03CA053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Guide: Dr. Srikant Singh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School of Engineering, P P Savani University</a:t>
            </a:r>
            <a:endParaRPr lang="en-US" sz="1800" dirty="0"/>
          </a:p>
        </p:txBody>
      </p:sp>
      <p:pic>
        <p:nvPicPr>
          <p:cNvPr id="6" name="Hero image" descr="Annotated crack resul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188720"/>
            <a:ext cx="3840480" cy="2560320"/>
          </a:xfrm>
          <a:prstGeom prst="rect">
            <a:avLst/>
          </a:prstGeom>
        </p:spPr>
      </p:pic>
      <p:pic>
        <p:nvPicPr>
          <p:cNvPr id="7" name="Hero image 2" descr="Width estimation 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931920"/>
            <a:ext cx="38404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600" dirty="0"/>
          </a:p>
        </p:txBody>
      </p:sp>
      <p:sp>
        <p:nvSpPr>
          <p:cNvPr id="4" name="Contents card 1"/>
          <p:cNvSpPr/>
          <p:nvPr/>
        </p:nvSpPr>
        <p:spPr>
          <a:xfrm>
            <a:off x="548640" y="137160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DF1DC"/>
          </a:solidFill>
          <a:ln w="6350">
            <a:solidFill>
              <a:srgbClr val="FDF1DC"/>
            </a:solidFill>
            <a:prstDash val="solid"/>
          </a:ln>
        </p:spPr>
      </p:sp>
      <p:sp>
        <p:nvSpPr>
          <p:cNvPr id="5" name="Contents badge 1"/>
          <p:cNvSpPr/>
          <p:nvPr/>
        </p:nvSpPr>
        <p:spPr>
          <a:xfrm>
            <a:off x="777240" y="1554480"/>
            <a:ext cx="685800" cy="6858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6" name="Contents number 1"/>
          <p:cNvSpPr txBox="1"/>
          <p:nvPr/>
        </p:nvSpPr>
        <p:spPr>
          <a:xfrm>
            <a:off x="77724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Contents title 1"/>
          <p:cNvSpPr txBox="1"/>
          <p:nvPr/>
        </p:nvSpPr>
        <p:spPr>
          <a:xfrm>
            <a:off x="1691640" y="14630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9" name="Contents card 2"/>
          <p:cNvSpPr/>
          <p:nvPr/>
        </p:nvSpPr>
        <p:spPr>
          <a:xfrm>
            <a:off x="6172200" y="137160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Contents badge 2"/>
          <p:cNvSpPr/>
          <p:nvPr/>
        </p:nvSpPr>
        <p:spPr>
          <a:xfrm>
            <a:off x="6400800" y="1554480"/>
            <a:ext cx="685800" cy="6858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1" name="Contents number 2"/>
          <p:cNvSpPr txBox="1"/>
          <p:nvPr/>
        </p:nvSpPr>
        <p:spPr>
          <a:xfrm>
            <a:off x="640080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Contents title 2"/>
          <p:cNvSpPr txBox="1"/>
          <p:nvPr/>
        </p:nvSpPr>
        <p:spPr>
          <a:xfrm>
            <a:off x="7315200" y="14630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&amp; Design</a:t>
            </a:r>
            <a:endParaRPr lang="en-US" sz="2200" dirty="0"/>
          </a:p>
        </p:txBody>
      </p:sp>
      <p:sp>
        <p:nvSpPr>
          <p:cNvPr id="14" name="Contents card 3"/>
          <p:cNvSpPr/>
          <p:nvPr/>
        </p:nvSpPr>
        <p:spPr>
          <a:xfrm>
            <a:off x="548640" y="260604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DF1DC"/>
          </a:solidFill>
          <a:ln w="6350">
            <a:solidFill>
              <a:srgbClr val="FDF1DC"/>
            </a:solidFill>
            <a:prstDash val="solid"/>
          </a:ln>
        </p:spPr>
      </p:sp>
      <p:sp>
        <p:nvSpPr>
          <p:cNvPr id="15" name="Contents badge 3"/>
          <p:cNvSpPr/>
          <p:nvPr/>
        </p:nvSpPr>
        <p:spPr>
          <a:xfrm>
            <a:off x="777240" y="2788920"/>
            <a:ext cx="685800" cy="6858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6" name="Contents number 3"/>
          <p:cNvSpPr txBox="1"/>
          <p:nvPr/>
        </p:nvSpPr>
        <p:spPr>
          <a:xfrm>
            <a:off x="777240" y="2788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Contents title 3"/>
          <p:cNvSpPr txBox="1"/>
          <p:nvPr/>
        </p:nvSpPr>
        <p:spPr>
          <a:xfrm>
            <a:off x="1691640" y="2697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Pipeline</a:t>
            </a:r>
            <a:endParaRPr lang="en-US" sz="2200" dirty="0"/>
          </a:p>
        </p:txBody>
      </p:sp>
      <p:sp>
        <p:nvSpPr>
          <p:cNvPr id="19" name="Contents card 4"/>
          <p:cNvSpPr/>
          <p:nvPr/>
        </p:nvSpPr>
        <p:spPr>
          <a:xfrm>
            <a:off x="6172200" y="260604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Contents badge 4"/>
          <p:cNvSpPr/>
          <p:nvPr/>
        </p:nvSpPr>
        <p:spPr>
          <a:xfrm>
            <a:off x="6400800" y="2788920"/>
            <a:ext cx="685800" cy="6858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1" name="Contents number 4"/>
          <p:cNvSpPr txBox="1"/>
          <p:nvPr/>
        </p:nvSpPr>
        <p:spPr>
          <a:xfrm>
            <a:off x="6400800" y="2788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Contents title 4"/>
          <p:cNvSpPr txBox="1"/>
          <p:nvPr/>
        </p:nvSpPr>
        <p:spPr>
          <a:xfrm>
            <a:off x="7315200" y="2697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Nine Models</a:t>
            </a:r>
            <a:endParaRPr lang="en-US" sz="2200" dirty="0"/>
          </a:p>
        </p:txBody>
      </p:sp>
      <p:sp>
        <p:nvSpPr>
          <p:cNvPr id="24" name="Contents card 5"/>
          <p:cNvSpPr/>
          <p:nvPr/>
        </p:nvSpPr>
        <p:spPr>
          <a:xfrm>
            <a:off x="548640" y="384048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DF1DC"/>
          </a:solidFill>
          <a:ln w="6350">
            <a:solidFill>
              <a:srgbClr val="FDF1DC"/>
            </a:solidFill>
            <a:prstDash val="solid"/>
          </a:ln>
        </p:spPr>
      </p:sp>
      <p:sp>
        <p:nvSpPr>
          <p:cNvPr id="25" name="Contents badge 5"/>
          <p:cNvSpPr/>
          <p:nvPr/>
        </p:nvSpPr>
        <p:spPr>
          <a:xfrm>
            <a:off x="777240" y="4023360"/>
            <a:ext cx="685800" cy="6858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6" name="Contents number 5"/>
          <p:cNvSpPr txBox="1"/>
          <p:nvPr/>
        </p:nvSpPr>
        <p:spPr>
          <a:xfrm>
            <a:off x="777240" y="4023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Contents title 5"/>
          <p:cNvSpPr txBox="1"/>
          <p:nvPr/>
        </p:nvSpPr>
        <p:spPr>
          <a:xfrm>
            <a:off x="1691640" y="3931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2200" dirty="0"/>
          </a:p>
        </p:txBody>
      </p:sp>
      <p:sp>
        <p:nvSpPr>
          <p:cNvPr id="29" name="Contents card 6"/>
          <p:cNvSpPr/>
          <p:nvPr/>
        </p:nvSpPr>
        <p:spPr>
          <a:xfrm>
            <a:off x="6172200" y="384048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0" name="Contents badge 6"/>
          <p:cNvSpPr/>
          <p:nvPr/>
        </p:nvSpPr>
        <p:spPr>
          <a:xfrm>
            <a:off x="6400800" y="4023360"/>
            <a:ext cx="685800" cy="6858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31" name="Contents number 6"/>
          <p:cNvSpPr txBox="1"/>
          <p:nvPr/>
        </p:nvSpPr>
        <p:spPr>
          <a:xfrm>
            <a:off x="6400800" y="4023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32" name="Contents title 6"/>
          <p:cNvSpPr txBox="1"/>
          <p:nvPr/>
        </p:nvSpPr>
        <p:spPr>
          <a:xfrm>
            <a:off x="7315200" y="3931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2200" dirty="0"/>
          </a:p>
        </p:txBody>
      </p:sp>
      <p:sp>
        <p:nvSpPr>
          <p:cNvPr id="34" name="Contents card 7"/>
          <p:cNvSpPr/>
          <p:nvPr/>
        </p:nvSpPr>
        <p:spPr>
          <a:xfrm>
            <a:off x="548640" y="507492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DF1DC"/>
          </a:solidFill>
          <a:ln w="6350">
            <a:solidFill>
              <a:srgbClr val="FDF1DC"/>
            </a:solidFill>
            <a:prstDash val="solid"/>
          </a:ln>
        </p:spPr>
      </p:sp>
      <p:sp>
        <p:nvSpPr>
          <p:cNvPr id="35" name="Contents badge 7"/>
          <p:cNvSpPr/>
          <p:nvPr/>
        </p:nvSpPr>
        <p:spPr>
          <a:xfrm>
            <a:off x="777240" y="5257800"/>
            <a:ext cx="685800" cy="6858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36" name="Contents number 7"/>
          <p:cNvSpPr txBox="1"/>
          <p:nvPr/>
        </p:nvSpPr>
        <p:spPr>
          <a:xfrm>
            <a:off x="777240" y="5257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37" name="Contents title 7"/>
          <p:cNvSpPr txBox="1"/>
          <p:nvPr/>
        </p:nvSpPr>
        <p:spPr>
          <a:xfrm>
            <a:off x="1691640" y="5166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Results</a:t>
            </a:r>
            <a:endParaRPr lang="en-US" sz="2200" dirty="0"/>
          </a:p>
        </p:txBody>
      </p:sp>
      <p:sp>
        <p:nvSpPr>
          <p:cNvPr id="39" name="Contents card 8"/>
          <p:cNvSpPr/>
          <p:nvPr/>
        </p:nvSpPr>
        <p:spPr>
          <a:xfrm>
            <a:off x="6172200" y="507492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0" name="Contents badge 8"/>
          <p:cNvSpPr/>
          <p:nvPr/>
        </p:nvSpPr>
        <p:spPr>
          <a:xfrm>
            <a:off x="6400800" y="5257800"/>
            <a:ext cx="685800" cy="6858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41" name="Contents number 8"/>
          <p:cNvSpPr txBox="1"/>
          <p:nvPr/>
        </p:nvSpPr>
        <p:spPr>
          <a:xfrm>
            <a:off x="6400800" y="5257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42" name="Contents title 8"/>
          <p:cNvSpPr txBox="1"/>
          <p:nvPr/>
        </p:nvSpPr>
        <p:spPr>
          <a:xfrm>
            <a:off x="7315200" y="5166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</a:t>
            </a:r>
            <a:endParaRPr lang="en-US" sz="2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77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703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1"/>
                </a:solidFill>
              </a:rPr>
              <a:t>What the system is and why</a:t>
            </a:r>
            <a:endParaRPr lang="en-US" sz="2000" dirty="0"/>
          </a:p>
        </p:txBody>
      </p:sp>
      <p:sp>
        <p:nvSpPr>
          <p:cNvPr id="5" name="Section number"/>
          <p:cNvSpPr txBox="1"/>
          <p:nvPr/>
        </p:nvSpPr>
        <p:spPr>
          <a:xfrm>
            <a:off x="822960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at a glance</a:t>
            </a:r>
            <a:endParaRPr lang="en-US" sz="3600" dirty="0"/>
          </a:p>
        </p:txBody>
      </p:sp>
      <p:graphicFrame>
        <p:nvGraphicFramePr>
          <p:cNvPr id="5" name="Overvi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836234"/>
              </p:ext>
            </p:extLst>
          </p:nvPr>
        </p:nvGraphicFramePr>
        <p:xfrm>
          <a:off x="548640" y="1463040"/>
          <a:ext cx="11064240" cy="4480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Detail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Name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Crack Identification and Width Estimation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Purpose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Find cracks, measure length and width, grade severity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Surfaces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Concrete, asphalt, roads, walls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Front end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HTML5, Bootstrap 5, JavaScript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Back end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Python, Flask, OpenCV, NumPy, scikit-image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Database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MongoDB (in-memory fallback)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Cracks are early warning signs</a:t>
            </a:r>
            <a:endParaRPr lang="en-US" sz="3600" dirty="0"/>
          </a:p>
        </p:txBody>
      </p:sp>
      <p:sp>
        <p:nvSpPr>
          <p:cNvPr id="4" name="Problem card 1"/>
          <p:cNvSpPr/>
          <p:nvPr/>
        </p:nvSpPr>
        <p:spPr>
          <a:xfrm>
            <a:off x="548640" y="1645920"/>
            <a:ext cx="34747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Problem 1 circle"/>
          <p:cNvSpPr/>
          <p:nvPr/>
        </p:nvSpPr>
        <p:spPr>
          <a:xfrm>
            <a:off x="1874520" y="1965960"/>
            <a:ext cx="822960" cy="82296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6" name="Problem 1 icon" descr="Probl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260" y="2171700"/>
            <a:ext cx="411480" cy="411480"/>
          </a:xfrm>
          <a:prstGeom prst="rect">
            <a:avLst/>
          </a:prstGeom>
        </p:spPr>
      </p:pic>
      <p:sp>
        <p:nvSpPr>
          <p:cNvPr id="7" name="Problem title 1"/>
          <p:cNvSpPr txBox="1"/>
          <p:nvPr/>
        </p:nvSpPr>
        <p:spPr>
          <a:xfrm>
            <a:off x="731520" y="3063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</a:t>
            </a:r>
            <a:endParaRPr lang="en-US" sz="2600" dirty="0"/>
          </a:p>
        </p:txBody>
      </p:sp>
      <p:sp>
        <p:nvSpPr>
          <p:cNvPr id="8" name="Problem text 1"/>
          <p:cNvSpPr txBox="1"/>
          <p:nvPr/>
        </p:nvSpPr>
        <p:spPr>
          <a:xfrm>
            <a:off x="822960" y="3749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2"/>
                </a:solidFill>
              </a:rPr>
              <a:t>Manual gauge and tape</a:t>
            </a:r>
            <a:endParaRPr lang="en-US" sz="1800" dirty="0"/>
          </a:p>
        </p:txBody>
      </p:sp>
      <p:sp>
        <p:nvSpPr>
          <p:cNvPr id="9" name="Problem card 2"/>
          <p:cNvSpPr/>
          <p:nvPr/>
        </p:nvSpPr>
        <p:spPr>
          <a:xfrm>
            <a:off x="4297680" y="1645920"/>
            <a:ext cx="34747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Problem 2 circle"/>
          <p:cNvSpPr/>
          <p:nvPr/>
        </p:nvSpPr>
        <p:spPr>
          <a:xfrm>
            <a:off x="5623560" y="1965960"/>
            <a:ext cx="822960" cy="82296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1" name="Problem 2 icon" descr="Probl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2171700"/>
            <a:ext cx="411480" cy="411480"/>
          </a:xfrm>
          <a:prstGeom prst="rect">
            <a:avLst/>
          </a:prstGeom>
        </p:spPr>
      </p:pic>
      <p:sp>
        <p:nvSpPr>
          <p:cNvPr id="12" name="Problem title 2"/>
          <p:cNvSpPr txBox="1"/>
          <p:nvPr/>
        </p:nvSpPr>
        <p:spPr>
          <a:xfrm>
            <a:off x="4480560" y="3063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Subjective</a:t>
            </a:r>
            <a:endParaRPr lang="en-US" sz="2600" dirty="0"/>
          </a:p>
        </p:txBody>
      </p:sp>
      <p:sp>
        <p:nvSpPr>
          <p:cNvPr id="13" name="Problem text 2"/>
          <p:cNvSpPr txBox="1"/>
          <p:nvPr/>
        </p:nvSpPr>
        <p:spPr>
          <a:xfrm>
            <a:off x="4572000" y="3749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2"/>
                </a:solidFill>
              </a:rPr>
              <a:t>Differs by inspector</a:t>
            </a:r>
            <a:endParaRPr lang="en-US" sz="1800" dirty="0"/>
          </a:p>
        </p:txBody>
      </p:sp>
      <p:sp>
        <p:nvSpPr>
          <p:cNvPr id="14" name="Problem card 3"/>
          <p:cNvSpPr/>
          <p:nvPr/>
        </p:nvSpPr>
        <p:spPr>
          <a:xfrm>
            <a:off x="8046720" y="1645920"/>
            <a:ext cx="34747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Problem 3 circle"/>
          <p:cNvSpPr/>
          <p:nvPr/>
        </p:nvSpPr>
        <p:spPr>
          <a:xfrm>
            <a:off x="9372600" y="1965960"/>
            <a:ext cx="822960" cy="82296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6" name="Problem 3 icon" descr="Probl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8340" y="2171700"/>
            <a:ext cx="411480" cy="411480"/>
          </a:xfrm>
          <a:prstGeom prst="rect">
            <a:avLst/>
          </a:prstGeom>
        </p:spPr>
      </p:pic>
      <p:sp>
        <p:nvSpPr>
          <p:cNvPr id="17" name="Problem title 3"/>
          <p:cNvSpPr txBox="1"/>
          <p:nvPr/>
        </p:nvSpPr>
        <p:spPr>
          <a:xfrm>
            <a:off x="8229600" y="3063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Poorly recorded</a:t>
            </a:r>
            <a:endParaRPr lang="en-US" sz="2600" dirty="0"/>
          </a:p>
        </p:txBody>
      </p:sp>
      <p:sp>
        <p:nvSpPr>
          <p:cNvPr id="18" name="Problem text 3"/>
          <p:cNvSpPr txBox="1"/>
          <p:nvPr/>
        </p:nvSpPr>
        <p:spPr>
          <a:xfrm>
            <a:off x="8321040" y="3749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2"/>
                </a:solidFill>
              </a:rPr>
              <a:t>Little visual evidence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4" name="Objective card 1"/>
          <p:cNvSpPr/>
          <p:nvPr/>
        </p:nvSpPr>
        <p:spPr>
          <a:xfrm>
            <a:off x="548640" y="164592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Objective 1 circle"/>
          <p:cNvSpPr/>
          <p:nvPr/>
        </p:nvSpPr>
        <p:spPr>
          <a:xfrm>
            <a:off x="777240" y="1920240"/>
            <a:ext cx="731520" cy="7315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6" name="Objective 1 icon" descr="Objectiv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03120"/>
            <a:ext cx="365760" cy="365760"/>
          </a:xfrm>
          <a:prstGeom prst="rect">
            <a:avLst/>
          </a:prstGeom>
        </p:spPr>
      </p:pic>
      <p:sp>
        <p:nvSpPr>
          <p:cNvPr id="7" name="Objective label 1"/>
          <p:cNvSpPr txBox="1"/>
          <p:nvPr/>
        </p:nvSpPr>
        <p:spPr>
          <a:xfrm>
            <a:off x="777240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Upload images</a:t>
            </a:r>
            <a:endParaRPr lang="en-US" sz="2000" dirty="0"/>
          </a:p>
        </p:txBody>
      </p:sp>
      <p:sp>
        <p:nvSpPr>
          <p:cNvPr id="8" name="Objective card 2"/>
          <p:cNvSpPr/>
          <p:nvPr/>
        </p:nvSpPr>
        <p:spPr>
          <a:xfrm>
            <a:off x="3337560" y="164592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Objective 2 circle"/>
          <p:cNvSpPr/>
          <p:nvPr/>
        </p:nvSpPr>
        <p:spPr>
          <a:xfrm>
            <a:off x="3566160" y="1920240"/>
            <a:ext cx="731520" cy="7315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0" name="Objective 2 icon" descr="Objectiv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2103120"/>
            <a:ext cx="365760" cy="365760"/>
          </a:xfrm>
          <a:prstGeom prst="rect">
            <a:avLst/>
          </a:prstGeom>
        </p:spPr>
      </p:pic>
      <p:sp>
        <p:nvSpPr>
          <p:cNvPr id="11" name="Objective label 2"/>
          <p:cNvSpPr txBox="1"/>
          <p:nvPr/>
        </p:nvSpPr>
        <p:spPr>
          <a:xfrm>
            <a:off x="3566160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Find cracks</a:t>
            </a:r>
            <a:endParaRPr lang="en-US" sz="2000" dirty="0"/>
          </a:p>
        </p:txBody>
      </p:sp>
      <p:sp>
        <p:nvSpPr>
          <p:cNvPr id="12" name="Objective card 3"/>
          <p:cNvSpPr/>
          <p:nvPr/>
        </p:nvSpPr>
        <p:spPr>
          <a:xfrm>
            <a:off x="6126480" y="164592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Objective 3 circle"/>
          <p:cNvSpPr/>
          <p:nvPr/>
        </p:nvSpPr>
        <p:spPr>
          <a:xfrm>
            <a:off x="6355080" y="1920240"/>
            <a:ext cx="731520" cy="7315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4" name="Objective 3 icon" descr="Objectiv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2103120"/>
            <a:ext cx="365760" cy="365760"/>
          </a:xfrm>
          <a:prstGeom prst="rect">
            <a:avLst/>
          </a:prstGeom>
        </p:spPr>
      </p:pic>
      <p:sp>
        <p:nvSpPr>
          <p:cNvPr id="15" name="Objective label 3"/>
          <p:cNvSpPr txBox="1"/>
          <p:nvPr/>
        </p:nvSpPr>
        <p:spPr>
          <a:xfrm>
            <a:off x="6355080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Reject non-cracks</a:t>
            </a:r>
            <a:endParaRPr lang="en-US" sz="2000" dirty="0"/>
          </a:p>
        </p:txBody>
      </p:sp>
      <p:sp>
        <p:nvSpPr>
          <p:cNvPr id="16" name="Objective card 4"/>
          <p:cNvSpPr/>
          <p:nvPr/>
        </p:nvSpPr>
        <p:spPr>
          <a:xfrm>
            <a:off x="8915400" y="164592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Objective 4 circle"/>
          <p:cNvSpPr/>
          <p:nvPr/>
        </p:nvSpPr>
        <p:spPr>
          <a:xfrm>
            <a:off x="9144000" y="1920240"/>
            <a:ext cx="731520" cy="7315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8" name="Objective 4 icon" descr="Objectiv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2103120"/>
            <a:ext cx="365760" cy="365760"/>
          </a:xfrm>
          <a:prstGeom prst="rect">
            <a:avLst/>
          </a:prstGeom>
        </p:spPr>
      </p:pic>
      <p:sp>
        <p:nvSpPr>
          <p:cNvPr id="19" name="Objective label 4"/>
          <p:cNvSpPr txBox="1"/>
          <p:nvPr/>
        </p:nvSpPr>
        <p:spPr>
          <a:xfrm>
            <a:off x="9144000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Length and width</a:t>
            </a:r>
            <a:endParaRPr lang="en-US" sz="2000" dirty="0"/>
          </a:p>
        </p:txBody>
      </p:sp>
      <p:sp>
        <p:nvSpPr>
          <p:cNvPr id="20" name="Objective card 5"/>
          <p:cNvSpPr/>
          <p:nvPr/>
        </p:nvSpPr>
        <p:spPr>
          <a:xfrm>
            <a:off x="548640" y="393192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1" name="Objective 5 circle"/>
          <p:cNvSpPr/>
          <p:nvPr/>
        </p:nvSpPr>
        <p:spPr>
          <a:xfrm>
            <a:off x="777240" y="4206240"/>
            <a:ext cx="731520" cy="7315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2" name="Objective 5 icon" descr="Objectiv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389120"/>
            <a:ext cx="365760" cy="365760"/>
          </a:xfrm>
          <a:prstGeom prst="rect">
            <a:avLst/>
          </a:prstGeom>
        </p:spPr>
      </p:pic>
      <p:sp>
        <p:nvSpPr>
          <p:cNvPr id="23" name="Objective label 5"/>
          <p:cNvSpPr txBox="1"/>
          <p:nvPr/>
        </p:nvSpPr>
        <p:spPr>
          <a:xfrm>
            <a:off x="777240" y="5120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Convert to mm</a:t>
            </a:r>
            <a:endParaRPr lang="en-US" sz="2000" dirty="0"/>
          </a:p>
        </p:txBody>
      </p:sp>
      <p:sp>
        <p:nvSpPr>
          <p:cNvPr id="24" name="Objective card 6"/>
          <p:cNvSpPr/>
          <p:nvPr/>
        </p:nvSpPr>
        <p:spPr>
          <a:xfrm>
            <a:off x="3337560" y="393192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5" name="Objective 6 circle"/>
          <p:cNvSpPr/>
          <p:nvPr/>
        </p:nvSpPr>
        <p:spPr>
          <a:xfrm>
            <a:off x="3566160" y="4206240"/>
            <a:ext cx="731520" cy="7315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26" name="Objective 6 icon" descr="Objectiv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9040" y="4389120"/>
            <a:ext cx="365760" cy="365760"/>
          </a:xfrm>
          <a:prstGeom prst="rect">
            <a:avLst/>
          </a:prstGeom>
        </p:spPr>
      </p:pic>
      <p:sp>
        <p:nvSpPr>
          <p:cNvPr id="27" name="Objective label 6"/>
          <p:cNvSpPr txBox="1"/>
          <p:nvPr/>
        </p:nvSpPr>
        <p:spPr>
          <a:xfrm>
            <a:off x="3566160" y="5120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Export reports</a:t>
            </a:r>
            <a:endParaRPr lang="en-US" sz="2000" dirty="0"/>
          </a:p>
        </p:txBody>
      </p:sp>
      <p:sp>
        <p:nvSpPr>
          <p:cNvPr id="28" name="Objective card 7"/>
          <p:cNvSpPr/>
          <p:nvPr/>
        </p:nvSpPr>
        <p:spPr>
          <a:xfrm>
            <a:off x="6126480" y="393192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9" name="Objective 7 circle"/>
          <p:cNvSpPr/>
          <p:nvPr/>
        </p:nvSpPr>
        <p:spPr>
          <a:xfrm>
            <a:off x="6355080" y="4206240"/>
            <a:ext cx="731520" cy="7315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30" name="Objective 7 icon" descr="Objectiv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4389120"/>
            <a:ext cx="365760" cy="365760"/>
          </a:xfrm>
          <a:prstGeom prst="rect">
            <a:avLst/>
          </a:prstGeom>
        </p:spPr>
      </p:pic>
      <p:sp>
        <p:nvSpPr>
          <p:cNvPr id="31" name="Objective label 7"/>
          <p:cNvSpPr txBox="1"/>
          <p:nvPr/>
        </p:nvSpPr>
        <p:spPr>
          <a:xfrm>
            <a:off x="6355080" y="5120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Keep history</a:t>
            </a:r>
            <a:endParaRPr lang="en-US" sz="2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model is used?</a:t>
            </a:r>
            <a:endParaRPr lang="en-US" sz="3600" dirty="0"/>
          </a:p>
        </p:txBody>
      </p:sp>
      <p:sp>
        <p:nvSpPr>
          <p:cNvPr id="4" name="Answer card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DF1DC"/>
          </a:solidFill>
          <a:ln w="6350">
            <a:solidFill>
              <a:srgbClr val="FDF1DC"/>
            </a:solidFill>
            <a:prstDash val="solid"/>
          </a:ln>
        </p:spPr>
      </p:sp>
      <p:sp>
        <p:nvSpPr>
          <p:cNvPr id="5" name="Answer"/>
          <p:cNvSpPr txBox="1"/>
          <p:nvPr/>
        </p:nvSpPr>
        <p:spPr>
          <a:xfrm>
            <a:off x="822960" y="14630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computer vision  +  rule-based classifier</a:t>
            </a:r>
            <a:endParaRPr lang="en-US" sz="3000" dirty="0"/>
          </a:p>
        </p:txBody>
      </p:sp>
      <p:sp>
        <p:nvSpPr>
          <p:cNvPr id="6" name="Reason card 1"/>
          <p:cNvSpPr/>
          <p:nvPr/>
        </p:nvSpPr>
        <p:spPr>
          <a:xfrm>
            <a:off x="548640" y="320040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Reason 1 circle"/>
          <p:cNvSpPr/>
          <p:nvPr/>
        </p:nvSpPr>
        <p:spPr>
          <a:xfrm>
            <a:off x="1463040" y="3474720"/>
            <a:ext cx="777240" cy="7772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8" name="Reason 1 icon" descr="Reas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50" y="3669030"/>
            <a:ext cx="388620" cy="388620"/>
          </a:xfrm>
          <a:prstGeom prst="rect">
            <a:avLst/>
          </a:prstGeom>
        </p:spPr>
      </p:pic>
      <p:sp>
        <p:nvSpPr>
          <p:cNvPr id="9" name="Reason title 1"/>
          <p:cNvSpPr txBox="1"/>
          <p:nvPr/>
        </p:nvSpPr>
        <p:spPr>
          <a:xfrm>
            <a:off x="640080" y="45262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</a:t>
            </a:r>
            <a:endParaRPr lang="en-US" sz="2200" dirty="0"/>
          </a:p>
        </p:txBody>
      </p:sp>
      <p:sp>
        <p:nvSpPr>
          <p:cNvPr id="10" name="Reason text 1"/>
          <p:cNvSpPr txBox="1"/>
          <p:nvPr/>
        </p:nvSpPr>
        <p:spPr>
          <a:xfrm>
            <a:off x="640080" y="5074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tx2"/>
                </a:solidFill>
              </a:rPr>
              <a:t>CPU only</a:t>
            </a:r>
            <a:endParaRPr lang="en-US" sz="1700" dirty="0"/>
          </a:p>
        </p:txBody>
      </p:sp>
      <p:sp>
        <p:nvSpPr>
          <p:cNvPr id="11" name="Reason card 2"/>
          <p:cNvSpPr/>
          <p:nvPr/>
        </p:nvSpPr>
        <p:spPr>
          <a:xfrm>
            <a:off x="3337560" y="320040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Reason 2 circle"/>
          <p:cNvSpPr/>
          <p:nvPr/>
        </p:nvSpPr>
        <p:spPr>
          <a:xfrm>
            <a:off x="4251960" y="3474720"/>
            <a:ext cx="777240" cy="7772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3" name="Reason 2 icon" descr="Reas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6270" y="3669030"/>
            <a:ext cx="388620" cy="388620"/>
          </a:xfrm>
          <a:prstGeom prst="rect">
            <a:avLst/>
          </a:prstGeom>
        </p:spPr>
      </p:pic>
      <p:sp>
        <p:nvSpPr>
          <p:cNvPr id="14" name="Reason title 2"/>
          <p:cNvSpPr txBox="1"/>
          <p:nvPr/>
        </p:nvSpPr>
        <p:spPr>
          <a:xfrm>
            <a:off x="3429000" y="45262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</a:t>
            </a:r>
            <a:endParaRPr lang="en-US" sz="2200" dirty="0"/>
          </a:p>
        </p:txBody>
      </p:sp>
      <p:sp>
        <p:nvSpPr>
          <p:cNvPr id="15" name="Reason text 2"/>
          <p:cNvSpPr txBox="1"/>
          <p:nvPr/>
        </p:nvSpPr>
        <p:spPr>
          <a:xfrm>
            <a:off x="3429000" y="5074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tx2"/>
                </a:solidFill>
              </a:rPr>
              <a:t>Exact geometry</a:t>
            </a:r>
            <a:endParaRPr lang="en-US" sz="1700" dirty="0"/>
          </a:p>
        </p:txBody>
      </p:sp>
      <p:sp>
        <p:nvSpPr>
          <p:cNvPr id="16" name="Reason card 3"/>
          <p:cNvSpPr/>
          <p:nvPr/>
        </p:nvSpPr>
        <p:spPr>
          <a:xfrm>
            <a:off x="6126480" y="320040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Reason 3 circle"/>
          <p:cNvSpPr/>
          <p:nvPr/>
        </p:nvSpPr>
        <p:spPr>
          <a:xfrm>
            <a:off x="7040880" y="3474720"/>
            <a:ext cx="777240" cy="77724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18" name="Reason 3 icon" descr="Reaso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5190" y="3669030"/>
            <a:ext cx="388620" cy="388620"/>
          </a:xfrm>
          <a:prstGeom prst="rect">
            <a:avLst/>
          </a:prstGeom>
        </p:spPr>
      </p:pic>
      <p:sp>
        <p:nvSpPr>
          <p:cNvPr id="19" name="Reason title 3"/>
          <p:cNvSpPr txBox="1"/>
          <p:nvPr/>
        </p:nvSpPr>
        <p:spPr>
          <a:xfrm>
            <a:off x="6217920" y="45262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training data</a:t>
            </a:r>
            <a:endParaRPr lang="en-US" sz="2200" dirty="0"/>
          </a:p>
        </p:txBody>
      </p:sp>
      <p:sp>
        <p:nvSpPr>
          <p:cNvPr id="20" name="Reason text 3"/>
          <p:cNvSpPr txBox="1"/>
          <p:nvPr/>
        </p:nvSpPr>
        <p:spPr>
          <a:xfrm>
            <a:off x="6217920" y="5074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tx2"/>
                </a:solidFill>
              </a:rPr>
              <a:t>Works directly</a:t>
            </a:r>
            <a:endParaRPr lang="en-US" sz="1700" dirty="0"/>
          </a:p>
        </p:txBody>
      </p:sp>
      <p:sp>
        <p:nvSpPr>
          <p:cNvPr id="21" name="Reason card 4"/>
          <p:cNvSpPr/>
          <p:nvPr/>
        </p:nvSpPr>
        <p:spPr>
          <a:xfrm>
            <a:off x="8915400" y="320040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2" name="Reason 4 circle"/>
          <p:cNvSpPr/>
          <p:nvPr/>
        </p:nvSpPr>
        <p:spPr>
          <a:xfrm>
            <a:off x="9829800" y="3474720"/>
            <a:ext cx="777240" cy="77724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23" name="Reason 4 icon" descr="Reaso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4110" y="3669030"/>
            <a:ext cx="388620" cy="388620"/>
          </a:xfrm>
          <a:prstGeom prst="rect">
            <a:avLst/>
          </a:prstGeom>
        </p:spPr>
      </p:pic>
      <p:sp>
        <p:nvSpPr>
          <p:cNvPr id="24" name="Reason title 4"/>
          <p:cNvSpPr txBox="1"/>
          <p:nvPr/>
        </p:nvSpPr>
        <p:spPr>
          <a:xfrm>
            <a:off x="9006840" y="45262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Calibrated</a:t>
            </a:r>
            <a:endParaRPr lang="en-US" sz="2200" dirty="0"/>
          </a:p>
        </p:txBody>
      </p:sp>
      <p:sp>
        <p:nvSpPr>
          <p:cNvPr id="25" name="Reason text 4"/>
          <p:cNvSpPr txBox="1"/>
          <p:nvPr/>
        </p:nvSpPr>
        <p:spPr>
          <a:xfrm>
            <a:off x="9006840" y="5074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tx2"/>
                </a:solidFill>
              </a:rPr>
              <a:t>Pixels to mm</a:t>
            </a:r>
            <a:endParaRPr lang="en-US" sz="17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vs deep learning</a:t>
            </a:r>
            <a:endParaRPr lang="en-US" sz="3600" dirty="0"/>
          </a:p>
        </p:txBody>
      </p:sp>
      <p:graphicFrame>
        <p:nvGraphicFramePr>
          <p:cNvPr id="9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463040"/>
          <a:ext cx="9966960" cy="438912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Deep learning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This project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2262B"/>
                          </a:solidFill>
                        </a:rPr>
                        <a:t>Training data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</a:rPr>
                        <a:t>Large labelled set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</a:rPr>
                        <a:t>None needed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2262B"/>
                          </a:solidFill>
                        </a:rPr>
                        <a:t>Hardware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</a:rPr>
                        <a:t>GPU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</a:rPr>
                        <a:t>Ordinary CPU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2262B"/>
                          </a:solidFill>
                        </a:rPr>
                        <a:t>Explainable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</a:rPr>
                        <a:t>Black box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</a:rPr>
                        <a:t>Every stage visible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2262B"/>
                          </a:solidFill>
                        </a:rPr>
                        <a:t>Width in mm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</a:rPr>
                        <a:t>Not directly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</a:rPr>
                        <a:t>Yes, with scale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2262B"/>
                          </a:solidFill>
                        </a:rPr>
                        <a:t>Unseen textures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</a:rPr>
                        <a:t>Stronger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</a:rPr>
                        <a:t>Weaker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77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&amp; Design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703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1"/>
                </a:solidFill>
              </a:rPr>
              <a:t>Tools and architecture</a:t>
            </a:r>
            <a:endParaRPr lang="en-US" sz="2000" dirty="0"/>
          </a:p>
        </p:txBody>
      </p:sp>
      <p:sp>
        <p:nvSpPr>
          <p:cNvPr id="5" name="Section number"/>
          <p:cNvSpPr txBox="1"/>
          <p:nvPr/>
        </p:nvSpPr>
        <p:spPr>
          <a:xfrm>
            <a:off x="822960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600" dirty="0"/>
          </a:p>
        </p:txBody>
      </p:sp>
      <p:graphicFrame>
        <p:nvGraphicFramePr>
          <p:cNvPr id="11" name="Tech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398691"/>
              </p:ext>
            </p:extLst>
          </p:nvPr>
        </p:nvGraphicFramePr>
        <p:xfrm>
          <a:off x="548640" y="1463040"/>
          <a:ext cx="11064240" cy="4773168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7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7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7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22262B"/>
                          </a:solidFill>
                        </a:rPr>
                        <a:t>Language</a:t>
                      </a:r>
                      <a:endParaRPr lang="en-US" sz="17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2262B"/>
                          </a:solidFill>
                        </a:rPr>
                        <a:t>Python 3.10+</a:t>
                      </a:r>
                      <a:endParaRPr lang="en-US" sz="17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2262B"/>
                          </a:solidFill>
                        </a:rPr>
                        <a:t>Whole back end</a:t>
                      </a:r>
                      <a:endParaRPr lang="en-US" sz="17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22262B"/>
                          </a:solidFill>
                        </a:rPr>
                        <a:t>Web framework</a:t>
                      </a:r>
                      <a:endParaRPr lang="en-US" sz="17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2262B"/>
                          </a:solidFill>
                        </a:rPr>
                        <a:t>Flask 3</a:t>
                      </a:r>
                      <a:endParaRPr lang="en-US" sz="17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2262B"/>
                          </a:solidFill>
                        </a:rPr>
                        <a:t>Routes, controllers</a:t>
                      </a:r>
                      <a:endParaRPr lang="en-US" sz="17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22262B"/>
                          </a:solidFill>
                        </a:rPr>
                        <a:t>Computer vision</a:t>
                      </a:r>
                      <a:endParaRPr lang="en-US" sz="17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2262B"/>
                          </a:solidFill>
                        </a:rPr>
                        <a:t>OpenCV 4.9+</a:t>
                      </a:r>
                      <a:endParaRPr lang="en-US" sz="17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2262B"/>
                          </a:solidFill>
                        </a:rPr>
                        <a:t>Image processing</a:t>
                      </a:r>
                      <a:endParaRPr lang="en-US" sz="17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22262B"/>
                          </a:solidFill>
                        </a:rPr>
                        <a:t>Numerical</a:t>
                      </a:r>
                      <a:endParaRPr lang="en-US" sz="17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2262B"/>
                          </a:solidFill>
                        </a:rPr>
                        <a:t>NumPy</a:t>
                      </a:r>
                      <a:endParaRPr lang="en-US" sz="17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2262B"/>
                          </a:solidFill>
                        </a:rPr>
                        <a:t>Matrix maths</a:t>
                      </a:r>
                      <a:endParaRPr lang="en-US" sz="17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22262B"/>
                          </a:solidFill>
                        </a:rPr>
                        <a:t>Morphology</a:t>
                      </a:r>
                      <a:endParaRPr lang="en-US" sz="17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2262B"/>
                          </a:solidFill>
                        </a:rPr>
                        <a:t>scikit-image</a:t>
                      </a:r>
                      <a:endParaRPr lang="en-US" sz="17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2262B"/>
                          </a:solidFill>
                        </a:rPr>
                        <a:t>Skeletonization</a:t>
                      </a:r>
                      <a:endParaRPr lang="en-US" sz="17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22262B"/>
                          </a:solidFill>
                        </a:rPr>
                        <a:t>Database</a:t>
                      </a:r>
                      <a:endParaRPr lang="en-US" sz="17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2262B"/>
                          </a:solidFill>
                        </a:rPr>
                        <a:t>MongoDB / Mongomock</a:t>
                      </a:r>
                      <a:endParaRPr lang="en-US" sz="17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2262B"/>
                          </a:solidFill>
                        </a:rPr>
                        <a:t>Records, fallback</a:t>
                      </a:r>
                      <a:endParaRPr lang="en-US" sz="17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22262B"/>
                          </a:solidFill>
                        </a:rPr>
                        <a:t>Reports</a:t>
                      </a:r>
                      <a:endParaRPr lang="en-US" sz="17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2262B"/>
                          </a:solidFill>
                        </a:rPr>
                        <a:t>ReportLab, pandas</a:t>
                      </a:r>
                      <a:endParaRPr lang="en-US" sz="17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2262B"/>
                          </a:solidFill>
                        </a:rPr>
                        <a:t>PDF and CSV</a:t>
                      </a:r>
                      <a:endParaRPr lang="en-US" sz="17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22262B"/>
                          </a:solidFill>
                        </a:rPr>
                        <a:t>Front end</a:t>
                      </a:r>
                      <a:endParaRPr lang="en-US" sz="17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2262B"/>
                          </a:solidFill>
                        </a:rPr>
                        <a:t>Bootstrap 5.3</a:t>
                      </a:r>
                      <a:endParaRPr lang="en-US" sz="17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22262B"/>
                          </a:solidFill>
                        </a:rPr>
                        <a:t>Responsive UI</a:t>
                      </a:r>
                      <a:endParaRPr lang="en-US" sz="17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at a glance</a:t>
            </a:r>
            <a:endParaRPr lang="en-US" sz="3600" dirty="0"/>
          </a:p>
        </p:txBody>
      </p:sp>
      <p:sp>
        <p:nvSpPr>
          <p:cNvPr id="4" name="Tech card 1"/>
          <p:cNvSpPr/>
          <p:nvPr/>
        </p:nvSpPr>
        <p:spPr>
          <a:xfrm>
            <a:off x="548640" y="155448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ch 1 circle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6" name="Tech 1 icon" descr="Tec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34540"/>
            <a:ext cx="411480" cy="411480"/>
          </a:xfrm>
          <a:prstGeom prst="rect">
            <a:avLst/>
          </a:prstGeom>
        </p:spPr>
      </p:pic>
      <p:sp>
        <p:nvSpPr>
          <p:cNvPr id="7" name="Tech name 1"/>
          <p:cNvSpPr txBox="1"/>
          <p:nvPr/>
        </p:nvSpPr>
        <p:spPr>
          <a:xfrm>
            <a:off x="82296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2400" dirty="0"/>
          </a:p>
        </p:txBody>
      </p:sp>
      <p:sp>
        <p:nvSpPr>
          <p:cNvPr id="8" name="Tech role 1"/>
          <p:cNvSpPr txBox="1"/>
          <p:nvPr/>
        </p:nvSpPr>
        <p:spPr>
          <a:xfrm>
            <a:off x="82296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Language</a:t>
            </a:r>
            <a:endParaRPr lang="en-US" sz="1700" dirty="0"/>
          </a:p>
        </p:txBody>
      </p:sp>
      <p:sp>
        <p:nvSpPr>
          <p:cNvPr id="9" name="Tech card 2"/>
          <p:cNvSpPr/>
          <p:nvPr/>
        </p:nvSpPr>
        <p:spPr>
          <a:xfrm>
            <a:off x="4297680" y="155448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ech 2 circle"/>
          <p:cNvSpPr/>
          <p:nvPr/>
        </p:nvSpPr>
        <p:spPr>
          <a:xfrm>
            <a:off x="4572000" y="1828800"/>
            <a:ext cx="822960" cy="82296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1" name="Tech 2 icon" descr="Tec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740" y="2034540"/>
            <a:ext cx="411480" cy="411480"/>
          </a:xfrm>
          <a:prstGeom prst="rect">
            <a:avLst/>
          </a:prstGeom>
        </p:spPr>
      </p:pic>
      <p:sp>
        <p:nvSpPr>
          <p:cNvPr id="12" name="Tech name 2"/>
          <p:cNvSpPr txBox="1"/>
          <p:nvPr/>
        </p:nvSpPr>
        <p:spPr>
          <a:xfrm>
            <a:off x="457200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OpenCV</a:t>
            </a:r>
            <a:endParaRPr lang="en-US" sz="2400" dirty="0"/>
          </a:p>
        </p:txBody>
      </p:sp>
      <p:sp>
        <p:nvSpPr>
          <p:cNvPr id="13" name="Tech role 2"/>
          <p:cNvSpPr txBox="1"/>
          <p:nvPr/>
        </p:nvSpPr>
        <p:spPr>
          <a:xfrm>
            <a:off x="457200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Images</a:t>
            </a:r>
            <a:endParaRPr lang="en-US" sz="1700" dirty="0"/>
          </a:p>
        </p:txBody>
      </p:sp>
      <p:sp>
        <p:nvSpPr>
          <p:cNvPr id="14" name="Tech card 3"/>
          <p:cNvSpPr/>
          <p:nvPr/>
        </p:nvSpPr>
        <p:spPr>
          <a:xfrm>
            <a:off x="8046720" y="155448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Tech 3 circle"/>
          <p:cNvSpPr/>
          <p:nvPr/>
        </p:nvSpPr>
        <p:spPr>
          <a:xfrm>
            <a:off x="8321040" y="1828800"/>
            <a:ext cx="822960" cy="8229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6" name="Tech 3 icon" descr="Tech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6780" y="2034540"/>
            <a:ext cx="411480" cy="411480"/>
          </a:xfrm>
          <a:prstGeom prst="rect">
            <a:avLst/>
          </a:prstGeom>
        </p:spPr>
      </p:pic>
      <p:sp>
        <p:nvSpPr>
          <p:cNvPr id="17" name="Tech name 3"/>
          <p:cNvSpPr txBox="1"/>
          <p:nvPr/>
        </p:nvSpPr>
        <p:spPr>
          <a:xfrm>
            <a:off x="832104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scikit-image</a:t>
            </a:r>
            <a:endParaRPr lang="en-US" sz="2400" dirty="0"/>
          </a:p>
        </p:txBody>
      </p:sp>
      <p:sp>
        <p:nvSpPr>
          <p:cNvPr id="18" name="Tech role 3"/>
          <p:cNvSpPr txBox="1"/>
          <p:nvPr/>
        </p:nvSpPr>
        <p:spPr>
          <a:xfrm>
            <a:off x="832104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Skeleton</a:t>
            </a:r>
            <a:endParaRPr lang="en-US" sz="1700" dirty="0"/>
          </a:p>
        </p:txBody>
      </p:sp>
      <p:sp>
        <p:nvSpPr>
          <p:cNvPr id="19" name="Tech card 4"/>
          <p:cNvSpPr/>
          <p:nvPr/>
        </p:nvSpPr>
        <p:spPr>
          <a:xfrm>
            <a:off x="548640" y="393192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Tech 4 circle"/>
          <p:cNvSpPr/>
          <p:nvPr/>
        </p:nvSpPr>
        <p:spPr>
          <a:xfrm>
            <a:off x="822960" y="4206240"/>
            <a:ext cx="822960" cy="82296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21" name="Tech 4 icon" descr="Tech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" y="4411980"/>
            <a:ext cx="411480" cy="411480"/>
          </a:xfrm>
          <a:prstGeom prst="rect">
            <a:avLst/>
          </a:prstGeom>
        </p:spPr>
      </p:pic>
      <p:sp>
        <p:nvSpPr>
          <p:cNvPr id="22" name="Tech name 4"/>
          <p:cNvSpPr txBox="1"/>
          <p:nvPr/>
        </p:nvSpPr>
        <p:spPr>
          <a:xfrm>
            <a:off x="822960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</a:t>
            </a:r>
            <a:endParaRPr lang="en-US" sz="2400" dirty="0"/>
          </a:p>
        </p:txBody>
      </p:sp>
      <p:sp>
        <p:nvSpPr>
          <p:cNvPr id="23" name="Tech role 4"/>
          <p:cNvSpPr txBox="1"/>
          <p:nvPr/>
        </p:nvSpPr>
        <p:spPr>
          <a:xfrm>
            <a:off x="822960" y="5577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Web server</a:t>
            </a:r>
            <a:endParaRPr lang="en-US" sz="1700" dirty="0"/>
          </a:p>
        </p:txBody>
      </p:sp>
      <p:sp>
        <p:nvSpPr>
          <p:cNvPr id="24" name="Tech card 5"/>
          <p:cNvSpPr/>
          <p:nvPr/>
        </p:nvSpPr>
        <p:spPr>
          <a:xfrm>
            <a:off x="4297680" y="393192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5" name="Tech 5 circle"/>
          <p:cNvSpPr/>
          <p:nvPr/>
        </p:nvSpPr>
        <p:spPr>
          <a:xfrm>
            <a:off x="4572000" y="4206240"/>
            <a:ext cx="822960" cy="82296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26" name="Tech 5 icon" descr="Tech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7740" y="4411980"/>
            <a:ext cx="411480" cy="411480"/>
          </a:xfrm>
          <a:prstGeom prst="rect">
            <a:avLst/>
          </a:prstGeom>
        </p:spPr>
      </p:pic>
      <p:sp>
        <p:nvSpPr>
          <p:cNvPr id="27" name="Tech name 5"/>
          <p:cNvSpPr txBox="1"/>
          <p:nvPr/>
        </p:nvSpPr>
        <p:spPr>
          <a:xfrm>
            <a:off x="4572000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2400" dirty="0"/>
          </a:p>
        </p:txBody>
      </p:sp>
      <p:sp>
        <p:nvSpPr>
          <p:cNvPr id="28" name="Tech role 5"/>
          <p:cNvSpPr txBox="1"/>
          <p:nvPr/>
        </p:nvSpPr>
        <p:spPr>
          <a:xfrm>
            <a:off x="4572000" y="5577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Storage</a:t>
            </a:r>
            <a:endParaRPr lang="en-US" sz="1700" dirty="0"/>
          </a:p>
        </p:txBody>
      </p:sp>
      <p:sp>
        <p:nvSpPr>
          <p:cNvPr id="29" name="Tech card 6"/>
          <p:cNvSpPr/>
          <p:nvPr/>
        </p:nvSpPr>
        <p:spPr>
          <a:xfrm>
            <a:off x="8046720" y="393192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0" name="Tech 6 circle"/>
          <p:cNvSpPr/>
          <p:nvPr/>
        </p:nvSpPr>
        <p:spPr>
          <a:xfrm>
            <a:off x="8321040" y="4206240"/>
            <a:ext cx="822960" cy="8229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31" name="Tech 6 icon" descr="Tech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6780" y="4411980"/>
            <a:ext cx="411480" cy="411480"/>
          </a:xfrm>
          <a:prstGeom prst="rect">
            <a:avLst/>
          </a:prstGeom>
        </p:spPr>
      </p:pic>
      <p:sp>
        <p:nvSpPr>
          <p:cNvPr id="32" name="Tech name 6"/>
          <p:cNvSpPr txBox="1"/>
          <p:nvPr/>
        </p:nvSpPr>
        <p:spPr>
          <a:xfrm>
            <a:off x="8321040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ReportLab</a:t>
            </a:r>
            <a:endParaRPr lang="en-US" sz="2400" dirty="0"/>
          </a:p>
        </p:txBody>
      </p:sp>
      <p:sp>
        <p:nvSpPr>
          <p:cNvPr id="33" name="Tech role 6"/>
          <p:cNvSpPr txBox="1"/>
          <p:nvPr/>
        </p:nvSpPr>
        <p:spPr>
          <a:xfrm>
            <a:off x="8321040" y="5577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PDF reports</a:t>
            </a:r>
            <a:endParaRPr lang="en-US" sz="17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architecture</a:t>
            </a:r>
            <a:endParaRPr lang="en-US" sz="3600" dirty="0"/>
          </a:p>
        </p:txBody>
      </p:sp>
      <p:pic>
        <p:nvPicPr>
          <p:cNvPr id="4" name="Architecture diagram" descr="Layered architecture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43" y="1325880"/>
            <a:ext cx="7297555" cy="5029200"/>
          </a:xfrm>
          <a:prstGeom prst="rect">
            <a:avLst/>
          </a:prstGeom>
        </p:spPr>
      </p:pic>
      <p:sp>
        <p:nvSpPr>
          <p:cNvPr id="5" name="Layer card 1"/>
          <p:cNvSpPr/>
          <p:nvPr/>
        </p:nvSpPr>
        <p:spPr>
          <a:xfrm>
            <a:off x="8595360" y="1463040"/>
            <a:ext cx="3017520" cy="1051560"/>
          </a:xfrm>
          <a:prstGeom prst="roundRect">
            <a:avLst>
              <a:gd name="adj" fmla="val 10435"/>
            </a:avLst>
          </a:prstGeom>
          <a:solidFill>
            <a:srgbClr val="FDF1DC"/>
          </a:solidFill>
          <a:ln w="6350">
            <a:solidFill>
              <a:srgbClr val="FDF1DC"/>
            </a:solidFill>
            <a:prstDash val="solid"/>
          </a:ln>
        </p:spPr>
      </p:sp>
      <p:sp>
        <p:nvSpPr>
          <p:cNvPr id="6" name="Layer name 1"/>
          <p:cNvSpPr txBox="1"/>
          <p:nvPr/>
        </p:nvSpPr>
        <p:spPr>
          <a:xfrm>
            <a:off x="8823960" y="1600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2000" dirty="0"/>
          </a:p>
        </p:txBody>
      </p:sp>
      <p:sp>
        <p:nvSpPr>
          <p:cNvPr id="7" name="Layer text 1"/>
          <p:cNvSpPr txBox="1"/>
          <p:nvPr/>
        </p:nvSpPr>
        <p:spPr>
          <a:xfrm>
            <a:off x="8823960" y="20299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HTML pages, JS</a:t>
            </a:r>
            <a:endParaRPr lang="en-US" sz="1600" dirty="0"/>
          </a:p>
        </p:txBody>
      </p:sp>
      <p:sp>
        <p:nvSpPr>
          <p:cNvPr id="8" name="Layer card 2"/>
          <p:cNvSpPr/>
          <p:nvPr/>
        </p:nvSpPr>
        <p:spPr>
          <a:xfrm>
            <a:off x="8595360" y="2697480"/>
            <a:ext cx="301752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Layer name 2"/>
          <p:cNvSpPr txBox="1"/>
          <p:nvPr/>
        </p:nvSpPr>
        <p:spPr>
          <a:xfrm>
            <a:off x="8823960" y="2834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2000" dirty="0"/>
          </a:p>
        </p:txBody>
      </p:sp>
      <p:sp>
        <p:nvSpPr>
          <p:cNvPr id="10" name="Layer text 2"/>
          <p:cNvSpPr txBox="1"/>
          <p:nvPr/>
        </p:nvSpPr>
        <p:spPr>
          <a:xfrm>
            <a:off x="8823960" y="32644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Flask routes</a:t>
            </a:r>
            <a:endParaRPr lang="en-US" sz="1600" dirty="0"/>
          </a:p>
        </p:txBody>
      </p:sp>
      <p:sp>
        <p:nvSpPr>
          <p:cNvPr id="11" name="Layer card 3"/>
          <p:cNvSpPr/>
          <p:nvPr/>
        </p:nvSpPr>
        <p:spPr>
          <a:xfrm>
            <a:off x="8595360" y="3931920"/>
            <a:ext cx="3017520" cy="1051560"/>
          </a:xfrm>
          <a:prstGeom prst="roundRect">
            <a:avLst>
              <a:gd name="adj" fmla="val 10435"/>
            </a:avLst>
          </a:prstGeom>
          <a:solidFill>
            <a:srgbClr val="FDF1DC"/>
          </a:solidFill>
          <a:ln w="6350">
            <a:solidFill>
              <a:srgbClr val="FDF1DC"/>
            </a:solidFill>
            <a:prstDash val="solid"/>
          </a:ln>
        </p:spPr>
      </p:sp>
      <p:sp>
        <p:nvSpPr>
          <p:cNvPr id="12" name="Layer name 3"/>
          <p:cNvSpPr txBox="1"/>
          <p:nvPr/>
        </p:nvSpPr>
        <p:spPr>
          <a:xfrm>
            <a:off x="8823960" y="4069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2000" dirty="0"/>
          </a:p>
        </p:txBody>
      </p:sp>
      <p:sp>
        <p:nvSpPr>
          <p:cNvPr id="13" name="Layer text 3"/>
          <p:cNvSpPr txBox="1"/>
          <p:nvPr/>
        </p:nvSpPr>
        <p:spPr>
          <a:xfrm>
            <a:off x="8823960" y="44988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OpenCV services</a:t>
            </a:r>
            <a:endParaRPr lang="en-US" sz="1600" dirty="0"/>
          </a:p>
        </p:txBody>
      </p:sp>
      <p:sp>
        <p:nvSpPr>
          <p:cNvPr id="14" name="Layer card 4"/>
          <p:cNvSpPr/>
          <p:nvPr/>
        </p:nvSpPr>
        <p:spPr>
          <a:xfrm>
            <a:off x="8595360" y="5166360"/>
            <a:ext cx="301752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Layer name 4"/>
          <p:cNvSpPr txBox="1"/>
          <p:nvPr/>
        </p:nvSpPr>
        <p:spPr>
          <a:xfrm>
            <a:off x="8823960" y="5303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2000" dirty="0"/>
          </a:p>
        </p:txBody>
      </p:sp>
      <p:sp>
        <p:nvSpPr>
          <p:cNvPr id="16" name="Layer text 4"/>
          <p:cNvSpPr txBox="1"/>
          <p:nvPr/>
        </p:nvSpPr>
        <p:spPr>
          <a:xfrm>
            <a:off x="8823960" y="57332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MongoDB + files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user works with it</a:t>
            </a:r>
            <a:endParaRPr lang="en-US" sz="3600" dirty="0"/>
          </a:p>
        </p:txBody>
      </p:sp>
      <p:sp>
        <p:nvSpPr>
          <p:cNvPr id="4" name="Flow card 1"/>
          <p:cNvSpPr/>
          <p:nvPr/>
        </p:nvSpPr>
        <p:spPr>
          <a:xfrm>
            <a:off x="548640" y="1828800"/>
            <a:ext cx="2468880" cy="31089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Flow 1 circle"/>
          <p:cNvSpPr/>
          <p:nvPr/>
        </p:nvSpPr>
        <p:spPr>
          <a:xfrm>
            <a:off x="1417320" y="2103120"/>
            <a:ext cx="731520" cy="7315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6" name="Flow 1 icon" descr="Flow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286000"/>
            <a:ext cx="365760" cy="365760"/>
          </a:xfrm>
          <a:prstGeom prst="rect">
            <a:avLst/>
          </a:prstGeom>
        </p:spPr>
      </p:pic>
      <p:sp>
        <p:nvSpPr>
          <p:cNvPr id="7" name="Flow title 1"/>
          <p:cNvSpPr txBox="1"/>
          <p:nvPr/>
        </p:nvSpPr>
        <p:spPr>
          <a:xfrm>
            <a:off x="68580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2400" dirty="0"/>
          </a:p>
        </p:txBody>
      </p:sp>
      <p:sp>
        <p:nvSpPr>
          <p:cNvPr id="8" name="Flow text 1"/>
          <p:cNvSpPr txBox="1"/>
          <p:nvPr/>
        </p:nvSpPr>
        <p:spPr>
          <a:xfrm>
            <a:off x="731520" y="3611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tx2"/>
                </a:solidFill>
              </a:rPr>
              <a:t>Choose photos</a:t>
            </a:r>
            <a:endParaRPr lang="en-US" sz="1700" dirty="0"/>
          </a:p>
        </p:txBody>
      </p:sp>
      <p:sp>
        <p:nvSpPr>
          <p:cNvPr id="9" name="Flow arrow 1"/>
          <p:cNvSpPr/>
          <p:nvPr/>
        </p:nvSpPr>
        <p:spPr>
          <a:xfrm>
            <a:off x="3072384" y="3108960"/>
            <a:ext cx="365760" cy="365760"/>
          </a:xfrm>
          <a:prstGeom prst="rightArrow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0" name="Flow card 2"/>
          <p:cNvSpPr/>
          <p:nvPr/>
        </p:nvSpPr>
        <p:spPr>
          <a:xfrm>
            <a:off x="3474720" y="1828800"/>
            <a:ext cx="2468880" cy="31089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Flow 2 circle"/>
          <p:cNvSpPr/>
          <p:nvPr/>
        </p:nvSpPr>
        <p:spPr>
          <a:xfrm>
            <a:off x="4343400" y="2103120"/>
            <a:ext cx="731520" cy="7315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2" name="Flow 2 icon" descr="Flow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286000"/>
            <a:ext cx="365760" cy="365760"/>
          </a:xfrm>
          <a:prstGeom prst="rect">
            <a:avLst/>
          </a:prstGeom>
        </p:spPr>
      </p:pic>
      <p:sp>
        <p:nvSpPr>
          <p:cNvPr id="13" name="Flow title 2"/>
          <p:cNvSpPr txBox="1"/>
          <p:nvPr/>
        </p:nvSpPr>
        <p:spPr>
          <a:xfrm>
            <a:off x="361188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2400" dirty="0"/>
          </a:p>
        </p:txBody>
      </p:sp>
      <p:sp>
        <p:nvSpPr>
          <p:cNvPr id="14" name="Flow text 2"/>
          <p:cNvSpPr txBox="1"/>
          <p:nvPr/>
        </p:nvSpPr>
        <p:spPr>
          <a:xfrm>
            <a:off x="3657600" y="3611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tx2"/>
                </a:solidFill>
              </a:rPr>
              <a:t>Automatic</a:t>
            </a:r>
            <a:endParaRPr lang="en-US" sz="1700" dirty="0"/>
          </a:p>
        </p:txBody>
      </p:sp>
      <p:sp>
        <p:nvSpPr>
          <p:cNvPr id="15" name="Flow arrow 2"/>
          <p:cNvSpPr/>
          <p:nvPr/>
        </p:nvSpPr>
        <p:spPr>
          <a:xfrm>
            <a:off x="5998464" y="3108960"/>
            <a:ext cx="365760" cy="365760"/>
          </a:xfrm>
          <a:prstGeom prst="rightArrow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6" name="Flow card 3"/>
          <p:cNvSpPr/>
          <p:nvPr/>
        </p:nvSpPr>
        <p:spPr>
          <a:xfrm>
            <a:off x="6400800" y="1828800"/>
            <a:ext cx="2468880" cy="31089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Flow 3 circle"/>
          <p:cNvSpPr/>
          <p:nvPr/>
        </p:nvSpPr>
        <p:spPr>
          <a:xfrm>
            <a:off x="7269480" y="2103120"/>
            <a:ext cx="731520" cy="7315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8" name="Flow 3 icon" descr="Flow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2286000"/>
            <a:ext cx="365760" cy="365760"/>
          </a:xfrm>
          <a:prstGeom prst="rect">
            <a:avLst/>
          </a:prstGeom>
        </p:spPr>
      </p:pic>
      <p:sp>
        <p:nvSpPr>
          <p:cNvPr id="19" name="Flow title 3"/>
          <p:cNvSpPr txBox="1"/>
          <p:nvPr/>
        </p:nvSpPr>
        <p:spPr>
          <a:xfrm>
            <a:off x="653796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2400" dirty="0"/>
          </a:p>
        </p:txBody>
      </p:sp>
      <p:sp>
        <p:nvSpPr>
          <p:cNvPr id="20" name="Flow text 3"/>
          <p:cNvSpPr txBox="1"/>
          <p:nvPr/>
        </p:nvSpPr>
        <p:spPr>
          <a:xfrm>
            <a:off x="6583680" y="3611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tx2"/>
                </a:solidFill>
              </a:rPr>
              <a:t>Images and numbers</a:t>
            </a:r>
            <a:endParaRPr lang="en-US" sz="1700" dirty="0"/>
          </a:p>
        </p:txBody>
      </p:sp>
      <p:sp>
        <p:nvSpPr>
          <p:cNvPr id="21" name="Flow arrow 3"/>
          <p:cNvSpPr/>
          <p:nvPr/>
        </p:nvSpPr>
        <p:spPr>
          <a:xfrm>
            <a:off x="8924544" y="3108960"/>
            <a:ext cx="365760" cy="365760"/>
          </a:xfrm>
          <a:prstGeom prst="rightArrow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2" name="Flow card 4"/>
          <p:cNvSpPr/>
          <p:nvPr/>
        </p:nvSpPr>
        <p:spPr>
          <a:xfrm>
            <a:off x="9326880" y="1828800"/>
            <a:ext cx="2468880" cy="31089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3" name="Flow 4 circle"/>
          <p:cNvSpPr/>
          <p:nvPr/>
        </p:nvSpPr>
        <p:spPr>
          <a:xfrm>
            <a:off x="10195560" y="2103120"/>
            <a:ext cx="731520" cy="7315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24" name="Flow 4 icon" descr="Flow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8440" y="2286000"/>
            <a:ext cx="365760" cy="365760"/>
          </a:xfrm>
          <a:prstGeom prst="rect">
            <a:avLst/>
          </a:prstGeom>
        </p:spPr>
      </p:pic>
      <p:sp>
        <p:nvSpPr>
          <p:cNvPr id="25" name="Flow title 4"/>
          <p:cNvSpPr txBox="1"/>
          <p:nvPr/>
        </p:nvSpPr>
        <p:spPr>
          <a:xfrm>
            <a:off x="946404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</a:t>
            </a:r>
            <a:endParaRPr lang="en-US" sz="2400" dirty="0"/>
          </a:p>
        </p:txBody>
      </p:sp>
      <p:sp>
        <p:nvSpPr>
          <p:cNvPr id="26" name="Flow text 4"/>
          <p:cNvSpPr txBox="1"/>
          <p:nvPr/>
        </p:nvSpPr>
        <p:spPr>
          <a:xfrm>
            <a:off x="9509760" y="3611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tx2"/>
                </a:solidFill>
              </a:rPr>
              <a:t>CSV, PDF, ZIP</a:t>
            </a:r>
            <a:endParaRPr lang="en-US" sz="17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use cases</a:t>
            </a:r>
            <a:endParaRPr lang="en-US" sz="3600" dirty="0"/>
          </a:p>
        </p:txBody>
      </p:sp>
      <p:pic>
        <p:nvPicPr>
          <p:cNvPr id="4" name="DFD level 1" descr="Level 1 data flow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584" y="1280160"/>
            <a:ext cx="5627552" cy="5120640"/>
          </a:xfrm>
          <a:prstGeom prst="rect">
            <a:avLst/>
          </a:prstGeom>
        </p:spPr>
      </p:pic>
      <p:pic>
        <p:nvPicPr>
          <p:cNvPr id="5" name="Use case diagram" descr="Use case 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2056257"/>
            <a:ext cx="4114800" cy="1922527"/>
          </a:xfrm>
          <a:prstGeom prst="rect">
            <a:avLst/>
          </a:prstGeom>
        </p:spPr>
      </p:pic>
      <p:sp>
        <p:nvSpPr>
          <p:cNvPr id="6" name="Use case caption"/>
          <p:cNvSpPr txBox="1"/>
          <p:nvPr/>
        </p:nvSpPr>
        <p:spPr>
          <a:xfrm>
            <a:off x="7680960" y="4572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Use cases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77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Pipeline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703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1"/>
                </a:solidFill>
              </a:rPr>
              <a:t>Eleven steps from photo to result</a:t>
            </a:r>
            <a:endParaRPr lang="en-US" sz="2000" dirty="0"/>
          </a:p>
        </p:txBody>
      </p:sp>
      <p:sp>
        <p:nvSpPr>
          <p:cNvPr id="5" name="Section number"/>
          <p:cNvSpPr txBox="1"/>
          <p:nvPr/>
        </p:nvSpPr>
        <p:spPr>
          <a:xfrm>
            <a:off x="822960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overview</a:t>
            </a:r>
            <a:endParaRPr lang="en-US" sz="3600" dirty="0"/>
          </a:p>
        </p:txBody>
      </p:sp>
      <p:sp>
        <p:nvSpPr>
          <p:cNvPr id="4" name="Step card 1"/>
          <p:cNvSpPr/>
          <p:nvPr/>
        </p:nvSpPr>
        <p:spPr>
          <a:xfrm>
            <a:off x="548640" y="146304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Step badge 1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6" name="Step number 1"/>
          <p:cNvSpPr txBox="1"/>
          <p:nvPr/>
        </p:nvSpPr>
        <p:spPr>
          <a:xfrm>
            <a:off x="6858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tep name 1"/>
          <p:cNvSpPr txBox="1"/>
          <p:nvPr/>
        </p:nvSpPr>
        <p:spPr>
          <a:xfrm>
            <a:off x="1234440" y="15727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Resize</a:t>
            </a:r>
            <a:endParaRPr lang="en-US" sz="1700" dirty="0"/>
          </a:p>
        </p:txBody>
      </p:sp>
      <p:sp>
        <p:nvSpPr>
          <p:cNvPr id="8" name="Step detail 1"/>
          <p:cNvSpPr txBox="1"/>
          <p:nvPr/>
        </p:nvSpPr>
        <p:spPr>
          <a:xfrm>
            <a:off x="73152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max 1600 px</a:t>
            </a:r>
            <a:endParaRPr lang="en-US" sz="1500" dirty="0"/>
          </a:p>
        </p:txBody>
      </p:sp>
      <p:sp>
        <p:nvSpPr>
          <p:cNvPr id="9" name="Step card 2"/>
          <p:cNvSpPr/>
          <p:nvPr/>
        </p:nvSpPr>
        <p:spPr>
          <a:xfrm>
            <a:off x="3383280" y="146304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Step badge 2"/>
          <p:cNvSpPr/>
          <p:nvPr/>
        </p:nvSpPr>
        <p:spPr>
          <a:xfrm>
            <a:off x="3520440" y="1600200"/>
            <a:ext cx="457200" cy="4572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1" name="Step number 2"/>
          <p:cNvSpPr txBox="1"/>
          <p:nvPr/>
        </p:nvSpPr>
        <p:spPr>
          <a:xfrm>
            <a:off x="35204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tep name 2"/>
          <p:cNvSpPr txBox="1"/>
          <p:nvPr/>
        </p:nvSpPr>
        <p:spPr>
          <a:xfrm>
            <a:off x="4069080" y="15727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Grayscale + blur</a:t>
            </a:r>
            <a:endParaRPr lang="en-US" sz="1700" dirty="0"/>
          </a:p>
        </p:txBody>
      </p:sp>
      <p:sp>
        <p:nvSpPr>
          <p:cNvPr id="13" name="Step detail 2"/>
          <p:cNvSpPr txBox="1"/>
          <p:nvPr/>
        </p:nvSpPr>
        <p:spPr>
          <a:xfrm>
            <a:off x="356616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5×5 Gaussian</a:t>
            </a:r>
            <a:endParaRPr lang="en-US" sz="1500" dirty="0"/>
          </a:p>
        </p:txBody>
      </p:sp>
      <p:sp>
        <p:nvSpPr>
          <p:cNvPr id="14" name="Step card 3"/>
          <p:cNvSpPr/>
          <p:nvPr/>
        </p:nvSpPr>
        <p:spPr>
          <a:xfrm>
            <a:off x="6217920" y="146304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Step badge 3"/>
          <p:cNvSpPr/>
          <p:nvPr/>
        </p:nvSpPr>
        <p:spPr>
          <a:xfrm>
            <a:off x="6355080" y="1600200"/>
            <a:ext cx="457200" cy="4572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6" name="Step number 3"/>
          <p:cNvSpPr txBox="1"/>
          <p:nvPr/>
        </p:nvSpPr>
        <p:spPr>
          <a:xfrm>
            <a:off x="6355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Step name 3"/>
          <p:cNvSpPr txBox="1"/>
          <p:nvPr/>
        </p:nvSpPr>
        <p:spPr>
          <a:xfrm>
            <a:off x="6903720" y="15727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CLAHE</a:t>
            </a:r>
            <a:endParaRPr lang="en-US" sz="1700" dirty="0"/>
          </a:p>
        </p:txBody>
      </p:sp>
      <p:sp>
        <p:nvSpPr>
          <p:cNvPr id="18" name="Step detail 3"/>
          <p:cNvSpPr txBox="1"/>
          <p:nvPr/>
        </p:nvSpPr>
        <p:spPr>
          <a:xfrm>
            <a:off x="640080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local contrast</a:t>
            </a:r>
            <a:endParaRPr lang="en-US" sz="1500" dirty="0"/>
          </a:p>
        </p:txBody>
      </p:sp>
      <p:sp>
        <p:nvSpPr>
          <p:cNvPr id="19" name="Step card 4"/>
          <p:cNvSpPr/>
          <p:nvPr/>
        </p:nvSpPr>
        <p:spPr>
          <a:xfrm>
            <a:off x="9052560" y="146304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Step badge 4"/>
          <p:cNvSpPr/>
          <p:nvPr/>
        </p:nvSpPr>
        <p:spPr>
          <a:xfrm>
            <a:off x="9189720" y="1600200"/>
            <a:ext cx="457200" cy="4572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1" name="Step number 4"/>
          <p:cNvSpPr txBox="1"/>
          <p:nvPr/>
        </p:nvSpPr>
        <p:spPr>
          <a:xfrm>
            <a:off x="91897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Step name 4"/>
          <p:cNvSpPr txBox="1"/>
          <p:nvPr/>
        </p:nvSpPr>
        <p:spPr>
          <a:xfrm>
            <a:off x="9738360" y="15727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Black-Hat</a:t>
            </a:r>
            <a:endParaRPr lang="en-US" sz="1700" dirty="0"/>
          </a:p>
        </p:txBody>
      </p:sp>
      <p:sp>
        <p:nvSpPr>
          <p:cNvPr id="23" name="Step detail 4"/>
          <p:cNvSpPr txBox="1"/>
          <p:nvPr/>
        </p:nvSpPr>
        <p:spPr>
          <a:xfrm>
            <a:off x="923544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dark valleys</a:t>
            </a:r>
            <a:endParaRPr lang="en-US" sz="1500" dirty="0"/>
          </a:p>
        </p:txBody>
      </p:sp>
      <p:sp>
        <p:nvSpPr>
          <p:cNvPr id="24" name="Step card 5"/>
          <p:cNvSpPr/>
          <p:nvPr/>
        </p:nvSpPr>
        <p:spPr>
          <a:xfrm>
            <a:off x="548640" y="30632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DF1DC"/>
          </a:solidFill>
          <a:ln w="6350">
            <a:solidFill>
              <a:srgbClr val="FDF1DC"/>
            </a:solidFill>
            <a:prstDash val="solid"/>
          </a:ln>
        </p:spPr>
      </p:sp>
      <p:sp>
        <p:nvSpPr>
          <p:cNvPr id="25" name="Step badge 5"/>
          <p:cNvSpPr/>
          <p:nvPr/>
        </p:nvSpPr>
        <p:spPr>
          <a:xfrm>
            <a:off x="685800" y="3200400"/>
            <a:ext cx="457200" cy="4572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6" name="Step number 5"/>
          <p:cNvSpPr txBox="1"/>
          <p:nvPr/>
        </p:nvSpPr>
        <p:spPr>
          <a:xfrm>
            <a:off x="6858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Step name 5"/>
          <p:cNvSpPr txBox="1"/>
          <p:nvPr/>
        </p:nvSpPr>
        <p:spPr>
          <a:xfrm>
            <a:off x="1234440" y="31729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threshold</a:t>
            </a:r>
            <a:endParaRPr lang="en-US" sz="1700" dirty="0"/>
          </a:p>
        </p:txBody>
      </p:sp>
      <p:sp>
        <p:nvSpPr>
          <p:cNvPr id="28" name="Step detail 5"/>
          <p:cNvSpPr txBox="1"/>
          <p:nvPr/>
        </p:nvSpPr>
        <p:spPr>
          <a:xfrm>
            <a:off x="73152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41×41 window</a:t>
            </a:r>
            <a:endParaRPr lang="en-US" sz="1500" dirty="0"/>
          </a:p>
        </p:txBody>
      </p:sp>
      <p:sp>
        <p:nvSpPr>
          <p:cNvPr id="29" name="Step card 6"/>
          <p:cNvSpPr/>
          <p:nvPr/>
        </p:nvSpPr>
        <p:spPr>
          <a:xfrm>
            <a:off x="3383280" y="30632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DF1DC"/>
          </a:solidFill>
          <a:ln w="6350">
            <a:solidFill>
              <a:srgbClr val="FDF1DC"/>
            </a:solidFill>
            <a:prstDash val="solid"/>
          </a:ln>
        </p:spPr>
      </p:sp>
      <p:sp>
        <p:nvSpPr>
          <p:cNvPr id="30" name="Step badge 6"/>
          <p:cNvSpPr/>
          <p:nvPr/>
        </p:nvSpPr>
        <p:spPr>
          <a:xfrm>
            <a:off x="3520440" y="3200400"/>
            <a:ext cx="457200" cy="4572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31" name="Step number 6"/>
          <p:cNvSpPr txBox="1"/>
          <p:nvPr/>
        </p:nvSpPr>
        <p:spPr>
          <a:xfrm>
            <a:off x="35204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Step name 6"/>
          <p:cNvSpPr txBox="1"/>
          <p:nvPr/>
        </p:nvSpPr>
        <p:spPr>
          <a:xfrm>
            <a:off x="4069080" y="31729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+ bridge</a:t>
            </a:r>
            <a:endParaRPr lang="en-US" sz="1700" dirty="0"/>
          </a:p>
        </p:txBody>
      </p:sp>
      <p:sp>
        <p:nvSpPr>
          <p:cNvPr id="33" name="Step detail 6"/>
          <p:cNvSpPr txBox="1"/>
          <p:nvPr/>
        </p:nvSpPr>
        <p:spPr>
          <a:xfrm>
            <a:off x="356616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close gaps</a:t>
            </a:r>
            <a:endParaRPr lang="en-US" sz="1500" dirty="0"/>
          </a:p>
        </p:txBody>
      </p:sp>
      <p:sp>
        <p:nvSpPr>
          <p:cNvPr id="34" name="Step card 7"/>
          <p:cNvSpPr/>
          <p:nvPr/>
        </p:nvSpPr>
        <p:spPr>
          <a:xfrm>
            <a:off x="6217920" y="30632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DF1DC"/>
          </a:solidFill>
          <a:ln w="6350">
            <a:solidFill>
              <a:srgbClr val="FDF1DC"/>
            </a:solidFill>
            <a:prstDash val="solid"/>
          </a:ln>
        </p:spPr>
      </p:sp>
      <p:sp>
        <p:nvSpPr>
          <p:cNvPr id="35" name="Step badge 7"/>
          <p:cNvSpPr/>
          <p:nvPr/>
        </p:nvSpPr>
        <p:spPr>
          <a:xfrm>
            <a:off x="6355080" y="3200400"/>
            <a:ext cx="457200" cy="4572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36" name="Step number 7"/>
          <p:cNvSpPr txBox="1"/>
          <p:nvPr/>
        </p:nvSpPr>
        <p:spPr>
          <a:xfrm>
            <a:off x="6355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7" name="Step name 7"/>
          <p:cNvSpPr txBox="1"/>
          <p:nvPr/>
        </p:nvSpPr>
        <p:spPr>
          <a:xfrm>
            <a:off x="6903720" y="31729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Geometry filter</a:t>
            </a:r>
            <a:endParaRPr lang="en-US" sz="1700" dirty="0"/>
          </a:p>
        </p:txBody>
      </p:sp>
      <p:sp>
        <p:nvSpPr>
          <p:cNvPr id="38" name="Step detail 7"/>
          <p:cNvSpPr txBox="1"/>
          <p:nvPr/>
        </p:nvSpPr>
        <p:spPr>
          <a:xfrm>
            <a:off x="640080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SVD ratio ≥ 3</a:t>
            </a:r>
            <a:endParaRPr lang="en-US" sz="1500" dirty="0"/>
          </a:p>
        </p:txBody>
      </p:sp>
      <p:sp>
        <p:nvSpPr>
          <p:cNvPr id="39" name="Step card 8"/>
          <p:cNvSpPr/>
          <p:nvPr/>
        </p:nvSpPr>
        <p:spPr>
          <a:xfrm>
            <a:off x="9052560" y="30632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DF1DC"/>
          </a:solidFill>
          <a:ln w="6350">
            <a:solidFill>
              <a:srgbClr val="FDF1DC"/>
            </a:solidFill>
            <a:prstDash val="solid"/>
          </a:ln>
        </p:spPr>
      </p:sp>
      <p:sp>
        <p:nvSpPr>
          <p:cNvPr id="40" name="Step badge 8"/>
          <p:cNvSpPr/>
          <p:nvPr/>
        </p:nvSpPr>
        <p:spPr>
          <a:xfrm>
            <a:off x="9189720" y="3200400"/>
            <a:ext cx="457200" cy="4572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41" name="Step number 8"/>
          <p:cNvSpPr txBox="1"/>
          <p:nvPr/>
        </p:nvSpPr>
        <p:spPr>
          <a:xfrm>
            <a:off x="91897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42" name="Step name 8"/>
          <p:cNvSpPr txBox="1"/>
          <p:nvPr/>
        </p:nvSpPr>
        <p:spPr>
          <a:xfrm>
            <a:off x="9738360" y="31729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Unify paths</a:t>
            </a:r>
            <a:endParaRPr lang="en-US" sz="1700" dirty="0"/>
          </a:p>
        </p:txBody>
      </p:sp>
      <p:sp>
        <p:nvSpPr>
          <p:cNvPr id="43" name="Step detail 8"/>
          <p:cNvSpPr txBox="1"/>
          <p:nvPr/>
        </p:nvSpPr>
        <p:spPr>
          <a:xfrm>
            <a:off x="923544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link nearby parts</a:t>
            </a:r>
            <a:endParaRPr lang="en-US" sz="1500" dirty="0"/>
          </a:p>
        </p:txBody>
      </p:sp>
      <p:sp>
        <p:nvSpPr>
          <p:cNvPr id="44" name="Step card 9"/>
          <p:cNvSpPr/>
          <p:nvPr/>
        </p:nvSpPr>
        <p:spPr>
          <a:xfrm>
            <a:off x="548640" y="46634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E3F1EF"/>
          </a:solidFill>
          <a:ln w="6350">
            <a:solidFill>
              <a:srgbClr val="E3F1EF"/>
            </a:solidFill>
            <a:prstDash val="solid"/>
          </a:ln>
        </p:spPr>
      </p:sp>
      <p:sp>
        <p:nvSpPr>
          <p:cNvPr id="45" name="Step badge 9"/>
          <p:cNvSpPr/>
          <p:nvPr/>
        </p:nvSpPr>
        <p:spPr>
          <a:xfrm>
            <a:off x="685800" y="4800600"/>
            <a:ext cx="457200" cy="4572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46" name="Step number 9"/>
          <p:cNvSpPr txBox="1"/>
          <p:nvPr/>
        </p:nvSpPr>
        <p:spPr>
          <a:xfrm>
            <a:off x="68580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47" name="Step name 9"/>
          <p:cNvSpPr txBox="1"/>
          <p:nvPr/>
        </p:nvSpPr>
        <p:spPr>
          <a:xfrm>
            <a:off x="1234440" y="47731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Skeleton</a:t>
            </a:r>
            <a:endParaRPr lang="en-US" sz="1700" dirty="0"/>
          </a:p>
        </p:txBody>
      </p:sp>
      <p:sp>
        <p:nvSpPr>
          <p:cNvPr id="48" name="Step detail 9"/>
          <p:cNvSpPr txBox="1"/>
          <p:nvPr/>
        </p:nvSpPr>
        <p:spPr>
          <a:xfrm>
            <a:off x="731520" y="5532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1 px centre line</a:t>
            </a:r>
            <a:endParaRPr lang="en-US" sz="1500" dirty="0"/>
          </a:p>
        </p:txBody>
      </p:sp>
      <p:sp>
        <p:nvSpPr>
          <p:cNvPr id="49" name="Step card 10"/>
          <p:cNvSpPr/>
          <p:nvPr/>
        </p:nvSpPr>
        <p:spPr>
          <a:xfrm>
            <a:off x="3383280" y="46634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E3F1EF"/>
          </a:solidFill>
          <a:ln w="6350">
            <a:solidFill>
              <a:srgbClr val="E3F1EF"/>
            </a:solidFill>
            <a:prstDash val="solid"/>
          </a:ln>
        </p:spPr>
      </p:sp>
      <p:sp>
        <p:nvSpPr>
          <p:cNvPr id="50" name="Step badge 10"/>
          <p:cNvSpPr/>
          <p:nvPr/>
        </p:nvSpPr>
        <p:spPr>
          <a:xfrm>
            <a:off x="3520440" y="4800600"/>
            <a:ext cx="457200" cy="4572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1" name="Step number 10"/>
          <p:cNvSpPr txBox="1"/>
          <p:nvPr/>
        </p:nvSpPr>
        <p:spPr>
          <a:xfrm>
            <a:off x="35204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52" name="Step name 10"/>
          <p:cNvSpPr txBox="1"/>
          <p:nvPr/>
        </p:nvSpPr>
        <p:spPr>
          <a:xfrm>
            <a:off x="4069080" y="47731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Width</a:t>
            </a:r>
            <a:endParaRPr lang="en-US" sz="1700" dirty="0"/>
          </a:p>
        </p:txBody>
      </p:sp>
      <p:sp>
        <p:nvSpPr>
          <p:cNvPr id="53" name="Step detail 10"/>
          <p:cNvSpPr txBox="1"/>
          <p:nvPr/>
        </p:nvSpPr>
        <p:spPr>
          <a:xfrm>
            <a:off x="3566160" y="5532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distance transform</a:t>
            </a:r>
            <a:endParaRPr lang="en-US" sz="1500" dirty="0"/>
          </a:p>
        </p:txBody>
      </p:sp>
      <p:sp>
        <p:nvSpPr>
          <p:cNvPr id="54" name="Step card 11"/>
          <p:cNvSpPr/>
          <p:nvPr/>
        </p:nvSpPr>
        <p:spPr>
          <a:xfrm>
            <a:off x="6217920" y="46634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E3F1EF"/>
          </a:solidFill>
          <a:ln w="6350">
            <a:solidFill>
              <a:srgbClr val="E3F1EF"/>
            </a:solidFill>
            <a:prstDash val="solid"/>
          </a:ln>
        </p:spPr>
      </p:sp>
      <p:sp>
        <p:nvSpPr>
          <p:cNvPr id="55" name="Step badge 11"/>
          <p:cNvSpPr/>
          <p:nvPr/>
        </p:nvSpPr>
        <p:spPr>
          <a:xfrm>
            <a:off x="6355080" y="4800600"/>
            <a:ext cx="457200" cy="4572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6" name="Step number 11"/>
          <p:cNvSpPr txBox="1"/>
          <p:nvPr/>
        </p:nvSpPr>
        <p:spPr>
          <a:xfrm>
            <a:off x="635508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11</a:t>
            </a:r>
            <a:endParaRPr lang="en-US" sz="1600" dirty="0"/>
          </a:p>
        </p:txBody>
      </p:sp>
      <p:sp>
        <p:nvSpPr>
          <p:cNvPr id="57" name="Step name 11"/>
          <p:cNvSpPr txBox="1"/>
          <p:nvPr/>
        </p:nvSpPr>
        <p:spPr>
          <a:xfrm>
            <a:off x="6903720" y="47731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 + draw</a:t>
            </a:r>
            <a:endParaRPr lang="en-US" sz="1700" dirty="0"/>
          </a:p>
        </p:txBody>
      </p:sp>
      <p:sp>
        <p:nvSpPr>
          <p:cNvPr id="58" name="Step detail 11"/>
          <p:cNvSpPr txBox="1"/>
          <p:nvPr/>
        </p:nvSpPr>
        <p:spPr>
          <a:xfrm>
            <a:off x="6400800" y="5532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mm, annotate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1 to 6: prepare the image</a:t>
            </a:r>
            <a:endParaRPr lang="en-US" sz="3600" dirty="0"/>
          </a:p>
        </p:txBody>
      </p:sp>
      <p:graphicFrame>
        <p:nvGraphicFramePr>
          <p:cNvPr id="18" name="Steps 1-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375020"/>
              </p:ext>
            </p:extLst>
          </p:nvPr>
        </p:nvGraphicFramePr>
        <p:xfrm>
          <a:off x="548640" y="1463040"/>
          <a:ext cx="11064240" cy="4352544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What happens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Setting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1  Resize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Scale down large photos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max 1600 px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2  Grayscale + blur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One channel, less noise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Gaussian 5×5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3  CLAHE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Even out shadows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clip 2.0, 8×8 tiles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4  Black-Hat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Show dark narrow lines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ellipse 21×21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5  Adaptive threshold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Crack pixels = white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41×41 window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6  Clean + bridge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Fill gaps, drop specks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min area 30 px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7 to 11: measure the crack</a:t>
            </a:r>
            <a:endParaRPr lang="en-US" sz="3600" dirty="0"/>
          </a:p>
        </p:txBody>
      </p:sp>
      <p:graphicFrame>
        <p:nvGraphicFramePr>
          <p:cNvPr id="19" name="Steps 7-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198889"/>
              </p:ext>
            </p:extLst>
          </p:nvPr>
        </p:nvGraphicFramePr>
        <p:xfrm>
          <a:off x="548640" y="1463040"/>
          <a:ext cx="11064240" cy="4279392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What happens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Setting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7  Geometry filter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Reject round blobs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ratio ≥ 3.0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8  Unify paths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Join nearby pieces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link distance 25 px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9  Skeleton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Centre line = length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scikit-image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10  Width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Distance to the edge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2 × radius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11  Calibrate + draw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Pixels to mm, annotate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10 px = 1 mm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stage is saved as an image</a:t>
            </a:r>
            <a:endParaRPr lang="en-US" sz="3600" dirty="0"/>
          </a:p>
        </p:txBody>
      </p:sp>
      <p:pic>
        <p:nvPicPr>
          <p:cNvPr id="4" name="Pipeline stages" descr="Eight pipeline stage imag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35608"/>
            <a:ext cx="11064240" cy="462686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Threshold: crack becomes white</a:t>
            </a:r>
            <a:endParaRPr lang="en-US" sz="3600" dirty="0"/>
          </a:p>
        </p:txBody>
      </p:sp>
      <p:pic>
        <p:nvPicPr>
          <p:cNvPr id="4" name="Grayscale" descr="Grayscale 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26" y="1554480"/>
            <a:ext cx="5116068" cy="3410712"/>
          </a:xfrm>
          <a:prstGeom prst="rect">
            <a:avLst/>
          </a:prstGeom>
        </p:spPr>
      </p:pic>
      <p:pic>
        <p:nvPicPr>
          <p:cNvPr id="5" name="Binary" descr="Adaptive threshold resul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4526" y="1554480"/>
            <a:ext cx="5116068" cy="3410712"/>
          </a:xfrm>
          <a:prstGeom prst="rect">
            <a:avLst/>
          </a:prstGeom>
        </p:spPr>
      </p:pic>
      <p:sp>
        <p:nvSpPr>
          <p:cNvPr id="6" name="Arrow"/>
          <p:cNvSpPr/>
          <p:nvPr/>
        </p:nvSpPr>
        <p:spPr>
          <a:xfrm>
            <a:off x="5760720" y="3017520"/>
            <a:ext cx="640080" cy="457200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Caption left"/>
          <p:cNvSpPr txBox="1"/>
          <p:nvPr/>
        </p:nvSpPr>
        <p:spPr>
          <a:xfrm>
            <a:off x="548640" y="5120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2"/>
                </a:solidFill>
              </a:rPr>
              <a:t>Grayscale</a:t>
            </a:r>
            <a:endParaRPr lang="en-US" sz="1800" dirty="0"/>
          </a:p>
        </p:txBody>
      </p:sp>
      <p:sp>
        <p:nvSpPr>
          <p:cNvPr id="8" name="Caption right"/>
          <p:cNvSpPr txBox="1"/>
          <p:nvPr/>
        </p:nvSpPr>
        <p:spPr>
          <a:xfrm>
            <a:off x="6492240" y="5120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2"/>
                </a:solidFill>
              </a:rPr>
              <a:t>After threshold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up and keep crack shapes</a:t>
            </a:r>
            <a:endParaRPr lang="en-US" sz="3600" dirty="0"/>
          </a:p>
        </p:txBody>
      </p:sp>
      <p:pic>
        <p:nvPicPr>
          <p:cNvPr id="4" name="Stage Threshold" descr="Threshol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26" y="1554480"/>
            <a:ext cx="3470148" cy="2313432"/>
          </a:xfrm>
          <a:prstGeom prst="rect">
            <a:avLst/>
          </a:prstGeom>
        </p:spPr>
      </p:pic>
      <p:sp>
        <p:nvSpPr>
          <p:cNvPr id="5" name="Stage caption 1"/>
          <p:cNvSpPr txBox="1"/>
          <p:nvPr/>
        </p:nvSpPr>
        <p:spPr>
          <a:xfrm>
            <a:off x="54864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Threshold</a:t>
            </a:r>
            <a:endParaRPr lang="en-US" sz="1800" dirty="0"/>
          </a:p>
        </p:txBody>
      </p:sp>
      <p:sp>
        <p:nvSpPr>
          <p:cNvPr id="6" name="Arrow 1"/>
          <p:cNvSpPr/>
          <p:nvPr/>
        </p:nvSpPr>
        <p:spPr>
          <a:xfrm>
            <a:off x="4069080" y="2514600"/>
            <a:ext cx="320040" cy="365760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7" name="Stage Cleaned" descr="Clean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5686" y="1554480"/>
            <a:ext cx="3470148" cy="2313432"/>
          </a:xfrm>
          <a:prstGeom prst="rect">
            <a:avLst/>
          </a:prstGeom>
        </p:spPr>
      </p:pic>
      <p:sp>
        <p:nvSpPr>
          <p:cNvPr id="8" name="Stage caption 2"/>
          <p:cNvSpPr txBox="1"/>
          <p:nvPr/>
        </p:nvSpPr>
        <p:spPr>
          <a:xfrm>
            <a:off x="434340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Cleaned</a:t>
            </a:r>
            <a:endParaRPr lang="en-US" sz="1800" dirty="0"/>
          </a:p>
        </p:txBody>
      </p:sp>
      <p:sp>
        <p:nvSpPr>
          <p:cNvPr id="9" name="Arrow 2"/>
          <p:cNvSpPr/>
          <p:nvPr/>
        </p:nvSpPr>
        <p:spPr>
          <a:xfrm>
            <a:off x="7863840" y="2514600"/>
            <a:ext cx="320040" cy="365760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0" name="Stage Crack mask" descr="Crack mas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446" y="1554480"/>
            <a:ext cx="3470148" cy="2313432"/>
          </a:xfrm>
          <a:prstGeom prst="rect">
            <a:avLst/>
          </a:prstGeom>
        </p:spPr>
      </p:pic>
      <p:sp>
        <p:nvSpPr>
          <p:cNvPr id="11" name="Stage caption 3"/>
          <p:cNvSpPr txBox="1"/>
          <p:nvPr/>
        </p:nvSpPr>
        <p:spPr>
          <a:xfrm>
            <a:off x="813816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Crack mask</a:t>
            </a:r>
            <a:endParaRPr lang="en-US" sz="1800" dirty="0"/>
          </a:p>
        </p:txBody>
      </p:sp>
      <p:graphicFrame>
        <p:nvGraphicFramePr>
          <p:cNvPr id="22" name="Filter ru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0" y="4663440"/>
          <a:ext cx="6309360" cy="13716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Rule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2262B"/>
                          </a:solidFill>
                        </a:rPr>
                        <a:t>Smallest piece kept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B"/>
                          </a:solidFill>
                        </a:rPr>
                        <a:t>30 px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2262B"/>
                          </a:solidFill>
                        </a:rPr>
                        <a:t>Long and thin (ratio)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B"/>
                          </a:solidFill>
                        </a:rPr>
                        <a:t>≥ 3.0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Images with no crack are rejected</a:t>
            </a:r>
            <a:endParaRPr lang="en-US" sz="3600" dirty="0"/>
          </a:p>
        </p:txBody>
      </p:sp>
      <p:graphicFrame>
        <p:nvGraphicFramePr>
          <p:cNvPr id="23" name="Rejec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354449"/>
              </p:ext>
            </p:extLst>
          </p:nvPr>
        </p:nvGraphicFramePr>
        <p:xfrm>
          <a:off x="548640" y="1554480"/>
          <a:ext cx="5669280" cy="3950208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Test image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</a:rPr>
                        <a:t>Plain wall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Rejected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</a:rPr>
                        <a:t>Round blob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Rejected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</a:rPr>
                        <a:t>Text image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Rejected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</a:rPr>
                        <a:t>Texture only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Rejected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</a:rPr>
                        <a:t>Crack image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Accepted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9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tat rejected"/>
          <p:cNvSpPr/>
          <p:nvPr/>
        </p:nvSpPr>
        <p:spPr>
          <a:xfrm>
            <a:off x="6858000" y="1554480"/>
            <a:ext cx="47548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Stat rejected value"/>
          <p:cNvSpPr txBox="1"/>
          <p:nvPr/>
        </p:nvSpPr>
        <p:spPr>
          <a:xfrm>
            <a:off x="7040880" y="1691640"/>
            <a:ext cx="43891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of 4</a:t>
            </a:r>
            <a:endParaRPr lang="en-US" sz="4000" dirty="0"/>
          </a:p>
        </p:txBody>
      </p:sp>
      <p:sp>
        <p:nvSpPr>
          <p:cNvPr id="7" name="Stat rejected label"/>
          <p:cNvSpPr txBox="1"/>
          <p:nvPr/>
        </p:nvSpPr>
        <p:spPr>
          <a:xfrm>
            <a:off x="7040880" y="2801722"/>
            <a:ext cx="438912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non-crack images rejected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77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Nine Models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703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1"/>
                </a:solidFill>
              </a:rPr>
              <a:t>Methods used inside the pipeline</a:t>
            </a:r>
            <a:endParaRPr lang="en-US" sz="2000" dirty="0"/>
          </a:p>
        </p:txBody>
      </p:sp>
      <p:sp>
        <p:nvSpPr>
          <p:cNvPr id="5" name="Section number"/>
          <p:cNvSpPr txBox="1"/>
          <p:nvPr/>
        </p:nvSpPr>
        <p:spPr>
          <a:xfrm>
            <a:off x="822960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models at a glance</a:t>
            </a:r>
            <a:endParaRPr lang="en-US" sz="3600" dirty="0"/>
          </a:p>
        </p:txBody>
      </p:sp>
      <p:graphicFrame>
        <p:nvGraphicFramePr>
          <p:cNvPr id="25" name="Nine model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162860"/>
              </p:ext>
            </p:extLst>
          </p:nvPr>
        </p:nvGraphicFramePr>
        <p:xfrm>
          <a:off x="548640" y="1463040"/>
          <a:ext cx="11064240" cy="475488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Job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2B"/>
                          </a:solidFill>
                        </a:rPr>
                        <a:t>CLAHE enhancement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2B"/>
                          </a:solidFill>
                        </a:rPr>
                        <a:t>Even out light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2B"/>
                          </a:solidFill>
                        </a:rPr>
                        <a:t>Black-Hat morphology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2B"/>
                          </a:solidFill>
                        </a:rPr>
                        <a:t>Find dark thin lines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2262B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2B"/>
                          </a:solidFill>
                        </a:rPr>
                        <a:t>Adaptive Gaussian threshold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2B"/>
                          </a:solidFill>
                        </a:rPr>
                        <a:t>Crack vs background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2262B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2B"/>
                          </a:solidFill>
                        </a:rPr>
                        <a:t>Morphological closing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2B"/>
                          </a:solidFill>
                        </a:rPr>
                        <a:t>Bridge small gaps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2262B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2B"/>
                          </a:solidFill>
                        </a:rPr>
                        <a:t>Component linking graph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2B"/>
                          </a:solidFill>
                        </a:rPr>
                        <a:t>Join one crack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2262B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2B"/>
                          </a:solidFill>
                        </a:rPr>
                        <a:t>SVD geometric filter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2B"/>
                          </a:solidFill>
                        </a:rPr>
                        <a:t>Reject round blobs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2262B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2B"/>
                          </a:solidFill>
                        </a:rPr>
                        <a:t>Skeletonization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2B"/>
                          </a:solidFill>
                        </a:rPr>
                        <a:t>Length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2262B"/>
                          </a:solidFill>
                        </a:rPr>
                        <a:t>8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2B"/>
                          </a:solidFill>
                        </a:rPr>
                        <a:t>Distance transform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2B"/>
                          </a:solidFill>
                        </a:rPr>
                        <a:t>Width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2262B"/>
                          </a:solidFill>
                        </a:rPr>
                        <a:t>9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2B"/>
                          </a:solidFill>
                        </a:rPr>
                        <a:t>Rule-based severity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2B"/>
                          </a:solidFill>
                        </a:rPr>
                        <a:t>Good / Medium / Heavy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1 to 3: find the crack</a:t>
            </a:r>
            <a:endParaRPr lang="en-US" sz="3600" dirty="0"/>
          </a:p>
        </p:txBody>
      </p:sp>
      <p:sp>
        <p:nvSpPr>
          <p:cNvPr id="4" name="Model card 1"/>
          <p:cNvSpPr/>
          <p:nvPr/>
        </p:nvSpPr>
        <p:spPr>
          <a:xfrm>
            <a:off x="548640" y="1463040"/>
            <a:ext cx="3474720" cy="45720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Model badge 1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F5A623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6" name="Model number 1"/>
          <p:cNvSpPr txBox="1"/>
          <p:nvPr/>
        </p:nvSpPr>
        <p:spPr>
          <a:xfrm>
            <a:off x="82296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Model name 1"/>
          <p:cNvSpPr txBox="1"/>
          <p:nvPr/>
        </p:nvSpPr>
        <p:spPr>
          <a:xfrm>
            <a:off x="822960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CLAHE</a:t>
            </a:r>
            <a:endParaRPr lang="en-US" sz="2100" dirty="0"/>
          </a:p>
        </p:txBody>
      </p:sp>
      <p:sp>
        <p:nvSpPr>
          <p:cNvPr id="8" name="Model tool 1"/>
          <p:cNvSpPr txBox="1"/>
          <p:nvPr/>
        </p:nvSpPr>
        <p:spPr>
          <a:xfrm>
            <a:off x="822960" y="3749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tx2"/>
                </a:solidFill>
              </a:rPr>
              <a:t>clip 2.0, 8×8 tiles</a:t>
            </a:r>
            <a:endParaRPr lang="en-US" sz="1500" dirty="0"/>
          </a:p>
        </p:txBody>
      </p:sp>
      <p:sp>
        <p:nvSpPr>
          <p:cNvPr id="9" name="Model purpose 1"/>
          <p:cNvSpPr txBox="1"/>
          <p:nvPr/>
        </p:nvSpPr>
        <p:spPr>
          <a:xfrm>
            <a:off x="822960" y="4709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Evens out shadows and lighting</a:t>
            </a:r>
            <a:endParaRPr lang="en-US" sz="1700" dirty="0"/>
          </a:p>
        </p:txBody>
      </p:sp>
      <p:sp>
        <p:nvSpPr>
          <p:cNvPr id="10" name="Model card 2"/>
          <p:cNvSpPr/>
          <p:nvPr/>
        </p:nvSpPr>
        <p:spPr>
          <a:xfrm>
            <a:off x="4297680" y="1463040"/>
            <a:ext cx="3474720" cy="45720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Model badge 2"/>
          <p:cNvSpPr/>
          <p:nvPr/>
        </p:nvSpPr>
        <p:spPr>
          <a:xfrm>
            <a:off x="4572000" y="1737360"/>
            <a:ext cx="731520" cy="731520"/>
          </a:xfrm>
          <a:prstGeom prst="ellipse">
            <a:avLst/>
          </a:prstGeom>
          <a:solidFill>
            <a:srgbClr val="2F8F83"/>
          </a:solidFill>
          <a:ln w="6350">
            <a:solidFill>
              <a:srgbClr val="2F8F83"/>
            </a:solidFill>
            <a:prstDash val="solid"/>
          </a:ln>
        </p:spPr>
      </p:sp>
      <p:sp>
        <p:nvSpPr>
          <p:cNvPr id="12" name="Model number 2"/>
          <p:cNvSpPr txBox="1"/>
          <p:nvPr/>
        </p:nvSpPr>
        <p:spPr>
          <a:xfrm>
            <a:off x="457200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Model name 2"/>
          <p:cNvSpPr txBox="1"/>
          <p:nvPr/>
        </p:nvSpPr>
        <p:spPr>
          <a:xfrm>
            <a:off x="4572000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Black-Hat</a:t>
            </a:r>
            <a:endParaRPr lang="en-US" sz="2100" dirty="0"/>
          </a:p>
        </p:txBody>
      </p:sp>
      <p:sp>
        <p:nvSpPr>
          <p:cNvPr id="14" name="Model tool 2"/>
          <p:cNvSpPr txBox="1"/>
          <p:nvPr/>
        </p:nvSpPr>
        <p:spPr>
          <a:xfrm>
            <a:off x="4572000" y="3749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tx2"/>
                </a:solidFill>
              </a:rPr>
              <a:t>closing − image, 21×21</a:t>
            </a:r>
            <a:endParaRPr lang="en-US" sz="1500" dirty="0"/>
          </a:p>
        </p:txBody>
      </p:sp>
      <p:sp>
        <p:nvSpPr>
          <p:cNvPr id="15" name="Model purpose 2"/>
          <p:cNvSpPr txBox="1"/>
          <p:nvPr/>
        </p:nvSpPr>
        <p:spPr>
          <a:xfrm>
            <a:off x="4572000" y="4709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Isolates narrow dark lines</a:t>
            </a:r>
            <a:endParaRPr lang="en-US" sz="1700" dirty="0"/>
          </a:p>
        </p:txBody>
      </p:sp>
      <p:sp>
        <p:nvSpPr>
          <p:cNvPr id="16" name="Model card 3"/>
          <p:cNvSpPr/>
          <p:nvPr/>
        </p:nvSpPr>
        <p:spPr>
          <a:xfrm>
            <a:off x="8046720" y="1463040"/>
            <a:ext cx="3474720" cy="45720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Model badge 3"/>
          <p:cNvSpPr/>
          <p:nvPr/>
        </p:nvSpPr>
        <p:spPr>
          <a:xfrm>
            <a:off x="8321040" y="1737360"/>
            <a:ext cx="731520" cy="731520"/>
          </a:xfrm>
          <a:prstGeom prst="ellipse">
            <a:avLst/>
          </a:prstGeom>
          <a:solidFill>
            <a:srgbClr val="4A90C2"/>
          </a:solidFill>
          <a:ln w="6350">
            <a:solidFill>
              <a:srgbClr val="4A90C2"/>
            </a:solidFill>
            <a:prstDash val="solid"/>
          </a:ln>
        </p:spPr>
      </p:sp>
      <p:sp>
        <p:nvSpPr>
          <p:cNvPr id="18" name="Model number 3"/>
          <p:cNvSpPr txBox="1"/>
          <p:nvPr/>
        </p:nvSpPr>
        <p:spPr>
          <a:xfrm>
            <a:off x="832104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Model name 3"/>
          <p:cNvSpPr txBox="1"/>
          <p:nvPr/>
        </p:nvSpPr>
        <p:spPr>
          <a:xfrm>
            <a:off x="8321040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threshold</a:t>
            </a:r>
            <a:endParaRPr lang="en-US" sz="2100" dirty="0"/>
          </a:p>
        </p:txBody>
      </p:sp>
      <p:sp>
        <p:nvSpPr>
          <p:cNvPr id="20" name="Model tool 3"/>
          <p:cNvSpPr txBox="1"/>
          <p:nvPr/>
        </p:nvSpPr>
        <p:spPr>
          <a:xfrm>
            <a:off x="8321040" y="3749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tx2"/>
                </a:solidFill>
              </a:rPr>
              <a:t>41×41 Gaussian window</a:t>
            </a:r>
            <a:endParaRPr lang="en-US" sz="1500" dirty="0"/>
          </a:p>
        </p:txBody>
      </p:sp>
      <p:sp>
        <p:nvSpPr>
          <p:cNvPr id="21" name="Model purpose 3"/>
          <p:cNvSpPr txBox="1"/>
          <p:nvPr/>
        </p:nvSpPr>
        <p:spPr>
          <a:xfrm>
            <a:off x="8321040" y="4709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Handles uneven lighting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4 to 6: clean and verify</a:t>
            </a:r>
            <a:endParaRPr lang="en-US" sz="3600" dirty="0"/>
          </a:p>
        </p:txBody>
      </p:sp>
      <p:sp>
        <p:nvSpPr>
          <p:cNvPr id="4" name="Model card 1"/>
          <p:cNvSpPr/>
          <p:nvPr/>
        </p:nvSpPr>
        <p:spPr>
          <a:xfrm>
            <a:off x="548640" y="1463040"/>
            <a:ext cx="3474720" cy="45720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Model badge 1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F5A623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6" name="Model number 1"/>
          <p:cNvSpPr txBox="1"/>
          <p:nvPr/>
        </p:nvSpPr>
        <p:spPr>
          <a:xfrm>
            <a:off x="82296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7" name="Model name 1"/>
          <p:cNvSpPr txBox="1"/>
          <p:nvPr/>
        </p:nvSpPr>
        <p:spPr>
          <a:xfrm>
            <a:off x="822960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bridging</a:t>
            </a:r>
            <a:endParaRPr lang="en-US" sz="2100" dirty="0"/>
          </a:p>
        </p:txBody>
      </p:sp>
      <p:sp>
        <p:nvSpPr>
          <p:cNvPr id="8" name="Model tool 1"/>
          <p:cNvSpPr txBox="1"/>
          <p:nvPr/>
        </p:nvSpPr>
        <p:spPr>
          <a:xfrm>
            <a:off x="822960" y="3749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tx2"/>
                </a:solidFill>
              </a:rPr>
              <a:t>morphological closing</a:t>
            </a:r>
            <a:endParaRPr lang="en-US" sz="1500" dirty="0"/>
          </a:p>
        </p:txBody>
      </p:sp>
      <p:sp>
        <p:nvSpPr>
          <p:cNvPr id="9" name="Model purpose 1"/>
          <p:cNvSpPr txBox="1"/>
          <p:nvPr/>
        </p:nvSpPr>
        <p:spPr>
          <a:xfrm>
            <a:off x="822960" y="4709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Joins cracks broken by stones</a:t>
            </a:r>
            <a:endParaRPr lang="en-US" sz="1700" dirty="0"/>
          </a:p>
        </p:txBody>
      </p:sp>
      <p:sp>
        <p:nvSpPr>
          <p:cNvPr id="10" name="Model card 2"/>
          <p:cNvSpPr/>
          <p:nvPr/>
        </p:nvSpPr>
        <p:spPr>
          <a:xfrm>
            <a:off x="4297680" y="1463040"/>
            <a:ext cx="3474720" cy="45720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Model badge 2"/>
          <p:cNvSpPr/>
          <p:nvPr/>
        </p:nvSpPr>
        <p:spPr>
          <a:xfrm>
            <a:off x="4572000" y="1737360"/>
            <a:ext cx="731520" cy="731520"/>
          </a:xfrm>
          <a:prstGeom prst="ellipse">
            <a:avLst/>
          </a:prstGeom>
          <a:solidFill>
            <a:srgbClr val="2F8F83"/>
          </a:solidFill>
          <a:ln w="6350">
            <a:solidFill>
              <a:srgbClr val="2F8F83"/>
            </a:solidFill>
            <a:prstDash val="solid"/>
          </a:ln>
        </p:spPr>
      </p:sp>
      <p:sp>
        <p:nvSpPr>
          <p:cNvPr id="12" name="Model number 2"/>
          <p:cNvSpPr txBox="1"/>
          <p:nvPr/>
        </p:nvSpPr>
        <p:spPr>
          <a:xfrm>
            <a:off x="457200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Model name 2"/>
          <p:cNvSpPr txBox="1"/>
          <p:nvPr/>
        </p:nvSpPr>
        <p:spPr>
          <a:xfrm>
            <a:off x="4572000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linking</a:t>
            </a:r>
            <a:endParaRPr lang="en-US" sz="2100" dirty="0"/>
          </a:p>
        </p:txBody>
      </p:sp>
      <p:sp>
        <p:nvSpPr>
          <p:cNvPr id="14" name="Model tool 2"/>
          <p:cNvSpPr txBox="1"/>
          <p:nvPr/>
        </p:nvSpPr>
        <p:spPr>
          <a:xfrm>
            <a:off x="4572000" y="3749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tx2"/>
                </a:solidFill>
              </a:rPr>
              <a:t>link distance 25 px</a:t>
            </a:r>
            <a:endParaRPr lang="en-US" sz="1500" dirty="0"/>
          </a:p>
        </p:txBody>
      </p:sp>
      <p:sp>
        <p:nvSpPr>
          <p:cNvPr id="15" name="Model purpose 2"/>
          <p:cNvSpPr txBox="1"/>
          <p:nvPr/>
        </p:nvSpPr>
        <p:spPr>
          <a:xfrm>
            <a:off x="4572000" y="4709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Merges pieces into one crack</a:t>
            </a:r>
            <a:endParaRPr lang="en-US" sz="1700" dirty="0"/>
          </a:p>
        </p:txBody>
      </p:sp>
      <p:sp>
        <p:nvSpPr>
          <p:cNvPr id="16" name="Model card 3"/>
          <p:cNvSpPr/>
          <p:nvPr/>
        </p:nvSpPr>
        <p:spPr>
          <a:xfrm>
            <a:off x="8046720" y="1463040"/>
            <a:ext cx="3474720" cy="45720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Model badge 3"/>
          <p:cNvSpPr/>
          <p:nvPr/>
        </p:nvSpPr>
        <p:spPr>
          <a:xfrm>
            <a:off x="8321040" y="1737360"/>
            <a:ext cx="731520" cy="731520"/>
          </a:xfrm>
          <a:prstGeom prst="ellipse">
            <a:avLst/>
          </a:prstGeom>
          <a:solidFill>
            <a:srgbClr val="4A90C2"/>
          </a:solidFill>
          <a:ln w="6350">
            <a:solidFill>
              <a:srgbClr val="4A90C2"/>
            </a:solidFill>
            <a:prstDash val="solid"/>
          </a:ln>
        </p:spPr>
      </p:sp>
      <p:sp>
        <p:nvSpPr>
          <p:cNvPr id="18" name="Model number 3"/>
          <p:cNvSpPr txBox="1"/>
          <p:nvPr/>
        </p:nvSpPr>
        <p:spPr>
          <a:xfrm>
            <a:off x="832104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9" name="Model name 3"/>
          <p:cNvSpPr txBox="1"/>
          <p:nvPr/>
        </p:nvSpPr>
        <p:spPr>
          <a:xfrm>
            <a:off x="8321040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SVD filter</a:t>
            </a:r>
            <a:endParaRPr lang="en-US" sz="2100" dirty="0"/>
          </a:p>
        </p:txBody>
      </p:sp>
      <p:sp>
        <p:nvSpPr>
          <p:cNvPr id="20" name="Model tool 3"/>
          <p:cNvSpPr txBox="1"/>
          <p:nvPr/>
        </p:nvSpPr>
        <p:spPr>
          <a:xfrm>
            <a:off x="8321040" y="3749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tx2"/>
                </a:solidFill>
              </a:rPr>
              <a:t>ratio σ1 / σ2 ≥ 3</a:t>
            </a:r>
            <a:endParaRPr lang="en-US" sz="1500" dirty="0"/>
          </a:p>
        </p:txBody>
      </p:sp>
      <p:sp>
        <p:nvSpPr>
          <p:cNvPr id="21" name="Model purpose 3"/>
          <p:cNvSpPr txBox="1"/>
          <p:nvPr/>
        </p:nvSpPr>
        <p:spPr>
          <a:xfrm>
            <a:off x="8321040" y="4709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Rejects gravel and pits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7 to 9: measure and grade</a:t>
            </a:r>
            <a:endParaRPr lang="en-US" sz="3600" dirty="0"/>
          </a:p>
        </p:txBody>
      </p:sp>
      <p:sp>
        <p:nvSpPr>
          <p:cNvPr id="4" name="Model card 1"/>
          <p:cNvSpPr/>
          <p:nvPr/>
        </p:nvSpPr>
        <p:spPr>
          <a:xfrm>
            <a:off x="548640" y="1463040"/>
            <a:ext cx="3474720" cy="45720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Model badge 1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F5A623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6" name="Model number 1"/>
          <p:cNvSpPr txBox="1"/>
          <p:nvPr/>
        </p:nvSpPr>
        <p:spPr>
          <a:xfrm>
            <a:off x="82296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7" name="Model name 1"/>
          <p:cNvSpPr txBox="1"/>
          <p:nvPr/>
        </p:nvSpPr>
        <p:spPr>
          <a:xfrm>
            <a:off x="822960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Skeletonization</a:t>
            </a:r>
            <a:endParaRPr lang="en-US" sz="2100" dirty="0"/>
          </a:p>
        </p:txBody>
      </p:sp>
      <p:sp>
        <p:nvSpPr>
          <p:cNvPr id="8" name="Model tool 1"/>
          <p:cNvSpPr txBox="1"/>
          <p:nvPr/>
        </p:nvSpPr>
        <p:spPr>
          <a:xfrm>
            <a:off x="822960" y="3749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tx2"/>
                </a:solidFill>
              </a:rPr>
              <a:t>scikit-image skeletonize</a:t>
            </a:r>
            <a:endParaRPr lang="en-US" sz="1500" dirty="0"/>
          </a:p>
        </p:txBody>
      </p:sp>
      <p:sp>
        <p:nvSpPr>
          <p:cNvPr id="9" name="Model purpose 1"/>
          <p:cNvSpPr txBox="1"/>
          <p:nvPr/>
        </p:nvSpPr>
        <p:spPr>
          <a:xfrm>
            <a:off x="822960" y="4709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One-pixel centre line gives length</a:t>
            </a:r>
            <a:endParaRPr lang="en-US" sz="1700" dirty="0"/>
          </a:p>
        </p:txBody>
      </p:sp>
      <p:sp>
        <p:nvSpPr>
          <p:cNvPr id="10" name="Model card 2"/>
          <p:cNvSpPr/>
          <p:nvPr/>
        </p:nvSpPr>
        <p:spPr>
          <a:xfrm>
            <a:off x="4297680" y="1463040"/>
            <a:ext cx="3474720" cy="45720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Model badge 2"/>
          <p:cNvSpPr/>
          <p:nvPr/>
        </p:nvSpPr>
        <p:spPr>
          <a:xfrm>
            <a:off x="4572000" y="1737360"/>
            <a:ext cx="731520" cy="731520"/>
          </a:xfrm>
          <a:prstGeom prst="ellipse">
            <a:avLst/>
          </a:prstGeom>
          <a:solidFill>
            <a:srgbClr val="2F8F83"/>
          </a:solidFill>
          <a:ln w="6350">
            <a:solidFill>
              <a:srgbClr val="2F8F83"/>
            </a:solidFill>
            <a:prstDash val="solid"/>
          </a:ln>
        </p:spPr>
      </p:sp>
      <p:sp>
        <p:nvSpPr>
          <p:cNvPr id="12" name="Model number 2"/>
          <p:cNvSpPr txBox="1"/>
          <p:nvPr/>
        </p:nvSpPr>
        <p:spPr>
          <a:xfrm>
            <a:off x="457200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13" name="Model name 2"/>
          <p:cNvSpPr txBox="1"/>
          <p:nvPr/>
        </p:nvSpPr>
        <p:spPr>
          <a:xfrm>
            <a:off x="4572000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transform</a:t>
            </a:r>
            <a:endParaRPr lang="en-US" sz="2100" dirty="0"/>
          </a:p>
        </p:txBody>
      </p:sp>
      <p:sp>
        <p:nvSpPr>
          <p:cNvPr id="14" name="Model tool 2"/>
          <p:cNvSpPr txBox="1"/>
          <p:nvPr/>
        </p:nvSpPr>
        <p:spPr>
          <a:xfrm>
            <a:off x="4572000" y="3749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tx2"/>
                </a:solidFill>
              </a:rPr>
              <a:t>width = 2 × radius</a:t>
            </a:r>
            <a:endParaRPr lang="en-US" sz="1500" dirty="0"/>
          </a:p>
        </p:txBody>
      </p:sp>
      <p:sp>
        <p:nvSpPr>
          <p:cNvPr id="15" name="Model purpose 2"/>
          <p:cNvSpPr txBox="1"/>
          <p:nvPr/>
        </p:nvSpPr>
        <p:spPr>
          <a:xfrm>
            <a:off x="4572000" y="4709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Median = mean width, P95 = max</a:t>
            </a:r>
            <a:endParaRPr lang="en-US" sz="1700" dirty="0"/>
          </a:p>
        </p:txBody>
      </p:sp>
      <p:sp>
        <p:nvSpPr>
          <p:cNvPr id="16" name="Model card 3"/>
          <p:cNvSpPr/>
          <p:nvPr/>
        </p:nvSpPr>
        <p:spPr>
          <a:xfrm>
            <a:off x="8046720" y="1463040"/>
            <a:ext cx="3474720" cy="45720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Model badge 3"/>
          <p:cNvSpPr/>
          <p:nvPr/>
        </p:nvSpPr>
        <p:spPr>
          <a:xfrm>
            <a:off x="8321040" y="1737360"/>
            <a:ext cx="731520" cy="731520"/>
          </a:xfrm>
          <a:prstGeom prst="ellipse">
            <a:avLst/>
          </a:prstGeom>
          <a:solidFill>
            <a:srgbClr val="4A90C2"/>
          </a:solidFill>
          <a:ln w="6350">
            <a:solidFill>
              <a:srgbClr val="4A90C2"/>
            </a:solidFill>
            <a:prstDash val="solid"/>
          </a:ln>
        </p:spPr>
      </p:sp>
      <p:sp>
        <p:nvSpPr>
          <p:cNvPr id="18" name="Model number 3"/>
          <p:cNvSpPr txBox="1"/>
          <p:nvPr/>
        </p:nvSpPr>
        <p:spPr>
          <a:xfrm>
            <a:off x="832104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19" name="Model name 3"/>
          <p:cNvSpPr txBox="1"/>
          <p:nvPr/>
        </p:nvSpPr>
        <p:spPr>
          <a:xfrm>
            <a:off x="8321040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rules</a:t>
            </a:r>
            <a:endParaRPr lang="en-US" sz="2100" dirty="0"/>
          </a:p>
        </p:txBody>
      </p:sp>
      <p:sp>
        <p:nvSpPr>
          <p:cNvPr id="20" name="Model tool 3"/>
          <p:cNvSpPr txBox="1"/>
          <p:nvPr/>
        </p:nvSpPr>
        <p:spPr>
          <a:xfrm>
            <a:off x="8321040" y="3749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tx2"/>
                </a:solidFill>
              </a:rPr>
              <a:t>Good, Medium, Heavy</a:t>
            </a:r>
            <a:endParaRPr lang="en-US" sz="1500" dirty="0"/>
          </a:p>
        </p:txBody>
      </p:sp>
      <p:sp>
        <p:nvSpPr>
          <p:cNvPr id="21" name="Model purpose 3"/>
          <p:cNvSpPr txBox="1"/>
          <p:nvPr/>
        </p:nvSpPr>
        <p:spPr>
          <a:xfrm>
            <a:off x="8321040" y="4709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Compares width with thresholds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Skeleton and distance transform</a:t>
            </a:r>
            <a:endParaRPr lang="en-US" sz="3600" dirty="0"/>
          </a:p>
        </p:txBody>
      </p:sp>
      <p:pic>
        <p:nvPicPr>
          <p:cNvPr id="4" name="Skeleton" descr="Skelet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26" y="1554480"/>
            <a:ext cx="3470148" cy="2313432"/>
          </a:xfrm>
          <a:prstGeom prst="rect">
            <a:avLst/>
          </a:prstGeom>
        </p:spPr>
      </p:pic>
      <p:sp>
        <p:nvSpPr>
          <p:cNvPr id="5" name="Caption 1"/>
          <p:cNvSpPr txBox="1"/>
          <p:nvPr/>
        </p:nvSpPr>
        <p:spPr>
          <a:xfrm>
            <a:off x="548640" y="3977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Skeleton</a:t>
            </a:r>
            <a:endParaRPr lang="en-US" sz="1800" dirty="0"/>
          </a:p>
        </p:txBody>
      </p:sp>
      <p:pic>
        <p:nvPicPr>
          <p:cNvPr id="6" name="Distance transform" descr="Distance transfor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5686" y="1554480"/>
            <a:ext cx="3470148" cy="2313432"/>
          </a:xfrm>
          <a:prstGeom prst="rect">
            <a:avLst/>
          </a:prstGeom>
        </p:spPr>
      </p:pic>
      <p:sp>
        <p:nvSpPr>
          <p:cNvPr id="7" name="Caption 2"/>
          <p:cNvSpPr txBox="1"/>
          <p:nvPr/>
        </p:nvSpPr>
        <p:spPr>
          <a:xfrm>
            <a:off x="4343400" y="3977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Distance transform</a:t>
            </a:r>
            <a:endParaRPr lang="en-US" sz="1800" dirty="0"/>
          </a:p>
        </p:txBody>
      </p:sp>
      <p:pic>
        <p:nvPicPr>
          <p:cNvPr id="8" name="Width samples" descr="Width sampl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0446" y="1554480"/>
            <a:ext cx="3470148" cy="2313432"/>
          </a:xfrm>
          <a:prstGeom prst="rect">
            <a:avLst/>
          </a:prstGeom>
        </p:spPr>
      </p:pic>
      <p:sp>
        <p:nvSpPr>
          <p:cNvPr id="9" name="Caption 3"/>
          <p:cNvSpPr txBox="1"/>
          <p:nvPr/>
        </p:nvSpPr>
        <p:spPr>
          <a:xfrm>
            <a:off x="8138160" y="3977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Width samples</a:t>
            </a:r>
            <a:endParaRPr lang="en-US" sz="1800" dirty="0"/>
          </a:p>
        </p:txBody>
      </p:sp>
      <p:sp>
        <p:nvSpPr>
          <p:cNvPr id="10" name="Stat length"/>
          <p:cNvSpPr/>
          <p:nvPr/>
        </p:nvSpPr>
        <p:spPr>
          <a:xfrm>
            <a:off x="548640" y="4663440"/>
            <a:ext cx="34747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Stat length value"/>
          <p:cNvSpPr txBox="1"/>
          <p:nvPr/>
        </p:nvSpPr>
        <p:spPr>
          <a:xfrm>
            <a:off x="731520" y="4800600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609.6 px</a:t>
            </a:r>
            <a:endParaRPr lang="en-US" sz="4000" dirty="0"/>
          </a:p>
        </p:txBody>
      </p:sp>
      <p:sp>
        <p:nvSpPr>
          <p:cNvPr id="12" name="Stat length label"/>
          <p:cNvSpPr txBox="1"/>
          <p:nvPr/>
        </p:nvSpPr>
        <p:spPr>
          <a:xfrm>
            <a:off x="731520" y="5570525"/>
            <a:ext cx="3108960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crack length (60.96 mm)</a:t>
            </a:r>
            <a:endParaRPr lang="en-US" sz="1400" dirty="0"/>
          </a:p>
        </p:txBody>
      </p:sp>
      <p:sp>
        <p:nvSpPr>
          <p:cNvPr id="13" name="Stat mean"/>
          <p:cNvSpPr/>
          <p:nvPr/>
        </p:nvSpPr>
        <p:spPr>
          <a:xfrm>
            <a:off x="4343400" y="4663440"/>
            <a:ext cx="34747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Stat mean value"/>
          <p:cNvSpPr txBox="1"/>
          <p:nvPr/>
        </p:nvSpPr>
        <p:spPr>
          <a:xfrm>
            <a:off x="4526280" y="4800600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7.19 px</a:t>
            </a:r>
            <a:endParaRPr lang="en-US" sz="4000" dirty="0"/>
          </a:p>
        </p:txBody>
      </p:sp>
      <p:sp>
        <p:nvSpPr>
          <p:cNvPr id="15" name="Stat mean label"/>
          <p:cNvSpPr txBox="1"/>
          <p:nvPr/>
        </p:nvSpPr>
        <p:spPr>
          <a:xfrm>
            <a:off x="4526280" y="5570525"/>
            <a:ext cx="3108960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mean width (0.72 mm)</a:t>
            </a:r>
            <a:endParaRPr lang="en-US" sz="1400" dirty="0"/>
          </a:p>
        </p:txBody>
      </p:sp>
      <p:sp>
        <p:nvSpPr>
          <p:cNvPr id="16" name="Stat max"/>
          <p:cNvSpPr/>
          <p:nvPr/>
        </p:nvSpPr>
        <p:spPr>
          <a:xfrm>
            <a:off x="8138160" y="4663440"/>
            <a:ext cx="34747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Stat max value"/>
          <p:cNvSpPr txBox="1"/>
          <p:nvPr/>
        </p:nvSpPr>
        <p:spPr>
          <a:xfrm>
            <a:off x="8321040" y="4800600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8.00 px</a:t>
            </a:r>
            <a:endParaRPr lang="en-US" sz="4000" dirty="0"/>
          </a:p>
        </p:txBody>
      </p:sp>
      <p:sp>
        <p:nvSpPr>
          <p:cNvPr id="18" name="Stat max label"/>
          <p:cNvSpPr txBox="1"/>
          <p:nvPr/>
        </p:nvSpPr>
        <p:spPr>
          <a:xfrm>
            <a:off x="8321040" y="5570525"/>
            <a:ext cx="3108960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maximum width (0.80 mm)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a 5 px bar</a:t>
            </a:r>
            <a:endParaRPr lang="en-US" sz="3600" dirty="0"/>
          </a:p>
        </p:txBody>
      </p:sp>
      <p:graphicFrame>
        <p:nvGraphicFramePr>
          <p:cNvPr id="30" name="Distance valu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766560" cy="3200400"/>
        </p:xfrm>
        <a:graphic>
          <a:graphicData uri="http://schemas.openxmlformats.org/drawingml/2006/table">
            <a:tbl>
              <a:tblPr/>
              <a:tblGrid>
                <a:gridCol w="338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83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3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83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83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83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832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832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832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832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3832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3832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3832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3832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3832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3832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22262B"/>
                          </a:solidFill>
                        </a:rPr>
                        <a:t>3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22262B"/>
                          </a:solidFill>
                        </a:rPr>
                        <a:t>3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22262B"/>
                          </a:solidFill>
                        </a:rPr>
                        <a:t>3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22262B"/>
                          </a:solidFill>
                        </a:rPr>
                        <a:t>3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22262B"/>
                          </a:solidFill>
                        </a:rPr>
                        <a:t>3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22262B"/>
                          </a:solidFill>
                        </a:rPr>
                        <a:t>3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22262B"/>
                          </a:solidFill>
                        </a:rPr>
                        <a:t>3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22262B"/>
                          </a:solidFill>
                        </a:rPr>
                        <a:t>3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22262B"/>
                          </a:solidFill>
                        </a:rPr>
                        <a:t>3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22262B"/>
                          </a:solidFill>
                        </a:rPr>
                        <a:t>3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22262B"/>
                          </a:solidFill>
                        </a:rPr>
                        <a:t>3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22262B"/>
                          </a:solidFill>
                        </a:rPr>
                        <a:t>3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22262B"/>
                          </a:solidFill>
                        </a:rPr>
                        <a:t>3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22262B"/>
                          </a:solidFill>
                        </a:rPr>
                        <a:t>3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22262B"/>
                          </a:solidFill>
                        </a:rPr>
                        <a:t>3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22262B"/>
                          </a:solidFill>
                        </a:rPr>
                        <a:t>3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22262B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able caption"/>
          <p:cNvSpPr txBox="1"/>
          <p:nvPr/>
        </p:nvSpPr>
        <p:spPr>
          <a:xfrm>
            <a:off x="548640" y="51663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Distance values across the bar (centre row highlighted)</a:t>
            </a:r>
            <a:endParaRPr lang="en-US" sz="1600" dirty="0"/>
          </a:p>
        </p:txBody>
      </p:sp>
      <p:sp>
        <p:nvSpPr>
          <p:cNvPr id="6" name="Callout card"/>
          <p:cNvSpPr/>
          <p:nvPr/>
        </p:nvSpPr>
        <p:spPr>
          <a:xfrm>
            <a:off x="7772400" y="182880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DF1DC"/>
          </a:solidFill>
          <a:ln w="6350">
            <a:solidFill>
              <a:srgbClr val="FDF1DC"/>
            </a:solidFill>
            <a:prstDash val="solid"/>
          </a:ln>
        </p:spPr>
      </p:sp>
      <p:sp>
        <p:nvSpPr>
          <p:cNvPr id="7" name="Formula"/>
          <p:cNvSpPr txBox="1"/>
          <p:nvPr/>
        </p:nvSpPr>
        <p:spPr>
          <a:xfrm>
            <a:off x="7955280" y="2011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width = 2 × distance</a:t>
            </a:r>
            <a:endParaRPr lang="en-US" sz="2200" dirty="0"/>
          </a:p>
        </p:txBody>
      </p:sp>
      <p:sp>
        <p:nvSpPr>
          <p:cNvPr id="8" name="Formula result"/>
          <p:cNvSpPr txBox="1"/>
          <p:nvPr/>
        </p:nvSpPr>
        <p:spPr>
          <a:xfrm>
            <a:off x="7955280" y="28346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× 3.0 = 6.0 px</a:t>
            </a:r>
            <a:endParaRPr lang="en-US" sz="3600" dirty="0"/>
          </a:p>
        </p:txBody>
      </p:sp>
      <p:sp>
        <p:nvSpPr>
          <p:cNvPr id="9" name="True width"/>
          <p:cNvSpPr txBox="1"/>
          <p:nvPr/>
        </p:nvSpPr>
        <p:spPr>
          <a:xfrm>
            <a:off x="7955280" y="3840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2"/>
                </a:solidFill>
              </a:rPr>
              <a:t>true bar width: 5 px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Measurements and units</a:t>
            </a:r>
            <a:endParaRPr lang="en-US" sz="3600" dirty="0"/>
          </a:p>
        </p:txBody>
      </p:sp>
      <p:graphicFrame>
        <p:nvGraphicFramePr>
          <p:cNvPr id="31" name="Meas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786988"/>
              </p:ext>
            </p:extLst>
          </p:nvPr>
        </p:nvGraphicFramePr>
        <p:xfrm>
          <a:off x="548640" y="1463040"/>
          <a:ext cx="11064240" cy="4279392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</a:rPr>
                        <a:t>Measure</a:t>
                      </a:r>
                      <a:endParaRPr lang="en-US" sz="19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</a:rPr>
                        <a:t>How</a:t>
                      </a:r>
                      <a:endParaRPr lang="en-US" sz="19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9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2262B"/>
                          </a:solidFill>
                        </a:rPr>
                        <a:t>Length</a:t>
                      </a:r>
                      <a:endParaRPr lang="en-US" sz="19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22262B"/>
                          </a:solidFill>
                        </a:rPr>
                        <a:t>Sum of skeleton links</a:t>
                      </a:r>
                      <a:endParaRPr lang="en-US" sz="19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22262B"/>
                          </a:solidFill>
                        </a:rPr>
                        <a:t>px and mm</a:t>
                      </a:r>
                      <a:endParaRPr lang="en-US" sz="19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2262B"/>
                          </a:solidFill>
                        </a:rPr>
                        <a:t>Mean width</a:t>
                      </a:r>
                      <a:endParaRPr lang="en-US" sz="19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22262B"/>
                          </a:solidFill>
                        </a:rPr>
                        <a:t>Median of 2 × radius</a:t>
                      </a:r>
                      <a:endParaRPr lang="en-US" sz="19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22262B"/>
                          </a:solidFill>
                        </a:rPr>
                        <a:t>px and mm</a:t>
                      </a:r>
                      <a:endParaRPr lang="en-US" sz="19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2262B"/>
                          </a:solidFill>
                        </a:rPr>
                        <a:t>Maximum width</a:t>
                      </a:r>
                      <a:endParaRPr lang="en-US" sz="19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22262B"/>
                          </a:solidFill>
                        </a:rPr>
                        <a:t>95th percentile</a:t>
                      </a:r>
                      <a:endParaRPr lang="en-US" sz="19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22262B"/>
                          </a:solidFill>
                        </a:rPr>
                        <a:t>px and mm</a:t>
                      </a:r>
                      <a:endParaRPr lang="en-US" sz="19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2262B"/>
                          </a:solidFill>
                        </a:rPr>
                        <a:t>Area</a:t>
                      </a:r>
                      <a:endParaRPr lang="en-US" sz="19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22262B"/>
                          </a:solidFill>
                        </a:rPr>
                        <a:t>Crack pixels</a:t>
                      </a:r>
                      <a:endParaRPr lang="en-US" sz="19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22262B"/>
                          </a:solidFill>
                        </a:rPr>
                        <a:t>px² and mm²</a:t>
                      </a:r>
                      <a:endParaRPr lang="en-US" sz="19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2262B"/>
                          </a:solidFill>
                        </a:rPr>
                        <a:t>Scale</a:t>
                      </a:r>
                      <a:endParaRPr lang="en-US" sz="19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22262B"/>
                          </a:solidFill>
                        </a:rPr>
                        <a:t>Default 10 px = 1 mm</a:t>
                      </a:r>
                      <a:endParaRPr lang="en-US" sz="19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22262B"/>
                          </a:solidFill>
                        </a:rPr>
                        <a:t>px per mm</a:t>
                      </a:r>
                      <a:endParaRPr lang="en-US" sz="19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Severity: Good, Medium, Heavy</a:t>
            </a:r>
            <a:endParaRPr lang="en-US" sz="3600" dirty="0"/>
          </a:p>
        </p:txBody>
      </p:sp>
      <p:sp>
        <p:nvSpPr>
          <p:cNvPr id="4" name="Severity card 1"/>
          <p:cNvSpPr/>
          <p:nvPr/>
        </p:nvSpPr>
        <p:spPr>
          <a:xfrm>
            <a:off x="548640" y="155448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5E9E4B"/>
          </a:solidFill>
          <a:ln w="6350">
            <a:solidFill>
              <a:srgbClr val="5E9E4B"/>
            </a:solidFill>
            <a:prstDash val="solid"/>
          </a:ln>
        </p:spPr>
      </p:sp>
      <p:pic>
        <p:nvPicPr>
          <p:cNvPr id="5" name="Severity icon 1" descr="Goo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828800"/>
            <a:ext cx="914400" cy="914400"/>
          </a:xfrm>
          <a:prstGeom prst="rect">
            <a:avLst/>
          </a:prstGeom>
        </p:spPr>
      </p:pic>
      <p:sp>
        <p:nvSpPr>
          <p:cNvPr id="6" name="Severity name 1"/>
          <p:cNvSpPr txBox="1"/>
          <p:nvPr/>
        </p:nvSpPr>
        <p:spPr>
          <a:xfrm>
            <a:off x="73152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</a:t>
            </a:r>
            <a:endParaRPr lang="en-US" sz="3400" dirty="0"/>
          </a:p>
        </p:txBody>
      </p:sp>
      <p:sp>
        <p:nvSpPr>
          <p:cNvPr id="7" name="Severity px 1"/>
          <p:cNvSpPr txBox="1"/>
          <p:nvPr/>
        </p:nvSpPr>
        <p:spPr>
          <a:xfrm>
            <a:off x="731520" y="3749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≤ 3 px</a:t>
            </a:r>
            <a:endParaRPr lang="en-US" sz="2600" dirty="0"/>
          </a:p>
        </p:txBody>
      </p:sp>
      <p:sp>
        <p:nvSpPr>
          <p:cNvPr id="8" name="Severity mm 1"/>
          <p:cNvSpPr txBox="1"/>
          <p:nvPr/>
        </p:nvSpPr>
        <p:spPr>
          <a:xfrm>
            <a:off x="731520" y="4343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bg1"/>
                </a:solidFill>
              </a:rPr>
              <a:t>≤ 0.30 mm</a:t>
            </a:r>
            <a:endParaRPr lang="en-US" sz="1700" dirty="0"/>
          </a:p>
        </p:txBody>
      </p:sp>
      <p:sp>
        <p:nvSpPr>
          <p:cNvPr id="9" name="Severity card 2"/>
          <p:cNvSpPr/>
          <p:nvPr/>
        </p:nvSpPr>
        <p:spPr>
          <a:xfrm>
            <a:off x="4297680" y="155448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5A623"/>
          </a:solidFill>
          <a:ln w="6350">
            <a:solidFill>
              <a:srgbClr val="F5A623"/>
            </a:solidFill>
            <a:prstDash val="solid"/>
          </a:ln>
        </p:spPr>
      </p:sp>
      <p:pic>
        <p:nvPicPr>
          <p:cNvPr id="10" name="Severity icon 2" descr="Mediu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828800"/>
            <a:ext cx="914400" cy="914400"/>
          </a:xfrm>
          <a:prstGeom prst="rect">
            <a:avLst/>
          </a:prstGeom>
        </p:spPr>
      </p:pic>
      <p:sp>
        <p:nvSpPr>
          <p:cNvPr id="11" name="Severity name 2"/>
          <p:cNvSpPr txBox="1"/>
          <p:nvPr/>
        </p:nvSpPr>
        <p:spPr>
          <a:xfrm>
            <a:off x="448056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3400" dirty="0"/>
          </a:p>
        </p:txBody>
      </p:sp>
      <p:sp>
        <p:nvSpPr>
          <p:cNvPr id="12" name="Severity px 2"/>
          <p:cNvSpPr txBox="1"/>
          <p:nvPr/>
        </p:nvSpPr>
        <p:spPr>
          <a:xfrm>
            <a:off x="4480560" y="3749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3 – 8 px</a:t>
            </a:r>
            <a:endParaRPr lang="en-US" sz="2600" dirty="0"/>
          </a:p>
        </p:txBody>
      </p:sp>
      <p:sp>
        <p:nvSpPr>
          <p:cNvPr id="13" name="Severity mm 2"/>
          <p:cNvSpPr txBox="1"/>
          <p:nvPr/>
        </p:nvSpPr>
        <p:spPr>
          <a:xfrm>
            <a:off x="4480560" y="4343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bg1"/>
                </a:solidFill>
              </a:rPr>
              <a:t>0.30 – 0.80 mm</a:t>
            </a:r>
            <a:endParaRPr lang="en-US" sz="1700" dirty="0"/>
          </a:p>
        </p:txBody>
      </p:sp>
      <p:sp>
        <p:nvSpPr>
          <p:cNvPr id="14" name="Severity card 3"/>
          <p:cNvSpPr/>
          <p:nvPr/>
        </p:nvSpPr>
        <p:spPr>
          <a:xfrm>
            <a:off x="8046720" y="155448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</p:sp>
      <p:pic>
        <p:nvPicPr>
          <p:cNvPr id="15" name="Severity icon 3" descr="Heav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1828800"/>
            <a:ext cx="914400" cy="914400"/>
          </a:xfrm>
          <a:prstGeom prst="rect">
            <a:avLst/>
          </a:prstGeom>
        </p:spPr>
      </p:pic>
      <p:sp>
        <p:nvSpPr>
          <p:cNvPr id="16" name="Severity name 3"/>
          <p:cNvSpPr txBox="1"/>
          <p:nvPr/>
        </p:nvSpPr>
        <p:spPr>
          <a:xfrm>
            <a:off x="822960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Heavy</a:t>
            </a:r>
            <a:endParaRPr lang="en-US" sz="3400" dirty="0"/>
          </a:p>
        </p:txBody>
      </p:sp>
      <p:sp>
        <p:nvSpPr>
          <p:cNvPr id="17" name="Severity px 3"/>
          <p:cNvSpPr txBox="1"/>
          <p:nvPr/>
        </p:nvSpPr>
        <p:spPr>
          <a:xfrm>
            <a:off x="8229600" y="3749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&gt; 8 px</a:t>
            </a:r>
            <a:endParaRPr lang="en-US" sz="2600" dirty="0"/>
          </a:p>
        </p:txBody>
      </p:sp>
      <p:sp>
        <p:nvSpPr>
          <p:cNvPr id="18" name="Severity mm 3"/>
          <p:cNvSpPr txBox="1"/>
          <p:nvPr/>
        </p:nvSpPr>
        <p:spPr>
          <a:xfrm>
            <a:off x="8229600" y="4343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bg1"/>
                </a:solidFill>
              </a:rPr>
              <a:t>&gt; 0.80 mm or area ≥ 5000 px²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77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703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1"/>
                </a:solidFill>
              </a:rPr>
              <a:t>Three collections</a:t>
            </a:r>
            <a:endParaRPr lang="en-US" sz="2000" dirty="0"/>
          </a:p>
        </p:txBody>
      </p:sp>
      <p:sp>
        <p:nvSpPr>
          <p:cNvPr id="5" name="Section number"/>
          <p:cNvSpPr txBox="1"/>
          <p:nvPr/>
        </p:nvSpPr>
        <p:spPr>
          <a:xfrm>
            <a:off x="822960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collections</a:t>
            </a:r>
            <a:endParaRPr lang="en-US" sz="3600" dirty="0"/>
          </a:p>
        </p:txBody>
      </p:sp>
      <p:sp>
        <p:nvSpPr>
          <p:cNvPr id="4" name="Collection card 1"/>
          <p:cNvSpPr/>
          <p:nvPr/>
        </p:nvSpPr>
        <p:spPr>
          <a:xfrm>
            <a:off x="548640" y="1828800"/>
            <a:ext cx="34747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Collection 1 circle"/>
          <p:cNvSpPr/>
          <p:nvPr/>
        </p:nvSpPr>
        <p:spPr>
          <a:xfrm>
            <a:off x="1874520" y="2103120"/>
            <a:ext cx="822960" cy="8229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6" name="Collection 1 icon" descr="Collecti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260" y="2308860"/>
            <a:ext cx="411480" cy="411480"/>
          </a:xfrm>
          <a:prstGeom prst="rect">
            <a:avLst/>
          </a:prstGeom>
        </p:spPr>
      </p:pic>
      <p:sp>
        <p:nvSpPr>
          <p:cNvPr id="7" name="Collection name 1"/>
          <p:cNvSpPr txBox="1"/>
          <p:nvPr/>
        </p:nvSpPr>
        <p:spPr>
          <a:xfrm>
            <a:off x="731520" y="3200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2600" dirty="0"/>
          </a:p>
        </p:txBody>
      </p:sp>
      <p:sp>
        <p:nvSpPr>
          <p:cNvPr id="8" name="Collection text 1"/>
          <p:cNvSpPr txBox="1"/>
          <p:nvPr/>
        </p:nvSpPr>
        <p:spPr>
          <a:xfrm>
            <a:off x="731520" y="3840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2"/>
                </a:solidFill>
              </a:rPr>
              <a:t>One upload batch</a:t>
            </a:r>
            <a:endParaRPr lang="en-US" sz="1800" dirty="0"/>
          </a:p>
        </p:txBody>
      </p:sp>
      <p:sp>
        <p:nvSpPr>
          <p:cNvPr id="9" name="Link arrow 1"/>
          <p:cNvSpPr/>
          <p:nvPr/>
        </p:nvSpPr>
        <p:spPr>
          <a:xfrm>
            <a:off x="4069080" y="3108960"/>
            <a:ext cx="228600" cy="320040"/>
          </a:xfrm>
          <a:prstGeom prst="rightArrow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0" name="Collection card 2"/>
          <p:cNvSpPr/>
          <p:nvPr/>
        </p:nvSpPr>
        <p:spPr>
          <a:xfrm>
            <a:off x="4297680" y="1828800"/>
            <a:ext cx="34747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Collection 2 circle"/>
          <p:cNvSpPr/>
          <p:nvPr/>
        </p:nvSpPr>
        <p:spPr>
          <a:xfrm>
            <a:off x="5623560" y="2103120"/>
            <a:ext cx="822960" cy="82296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2" name="Collection 2 icon" descr="Collecti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2308860"/>
            <a:ext cx="411480" cy="411480"/>
          </a:xfrm>
          <a:prstGeom prst="rect">
            <a:avLst/>
          </a:prstGeom>
        </p:spPr>
      </p:pic>
      <p:sp>
        <p:nvSpPr>
          <p:cNvPr id="13" name="Collection name 2"/>
          <p:cNvSpPr txBox="1"/>
          <p:nvPr/>
        </p:nvSpPr>
        <p:spPr>
          <a:xfrm>
            <a:off x="4480560" y="3200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</a:t>
            </a:r>
            <a:endParaRPr lang="en-US" sz="2600" dirty="0"/>
          </a:p>
        </p:txBody>
      </p:sp>
      <p:sp>
        <p:nvSpPr>
          <p:cNvPr id="14" name="Collection text 2"/>
          <p:cNvSpPr txBox="1"/>
          <p:nvPr/>
        </p:nvSpPr>
        <p:spPr>
          <a:xfrm>
            <a:off x="4480560" y="3840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2"/>
                </a:solidFill>
              </a:rPr>
              <a:t>One photo</a:t>
            </a:r>
            <a:endParaRPr lang="en-US" sz="1800" dirty="0"/>
          </a:p>
        </p:txBody>
      </p:sp>
      <p:sp>
        <p:nvSpPr>
          <p:cNvPr id="15" name="Link arrow 2"/>
          <p:cNvSpPr/>
          <p:nvPr/>
        </p:nvSpPr>
        <p:spPr>
          <a:xfrm>
            <a:off x="7818120" y="3108960"/>
            <a:ext cx="228600" cy="320040"/>
          </a:xfrm>
          <a:prstGeom prst="rightArrow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6" name="Collection card 3"/>
          <p:cNvSpPr/>
          <p:nvPr/>
        </p:nvSpPr>
        <p:spPr>
          <a:xfrm>
            <a:off x="8046720" y="1828800"/>
            <a:ext cx="34747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Collection 3 circle"/>
          <p:cNvSpPr/>
          <p:nvPr/>
        </p:nvSpPr>
        <p:spPr>
          <a:xfrm>
            <a:off x="9372600" y="2103120"/>
            <a:ext cx="822960" cy="82296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18" name="Collection 3 icon" descr="Collectio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8340" y="2308860"/>
            <a:ext cx="411480" cy="411480"/>
          </a:xfrm>
          <a:prstGeom prst="rect">
            <a:avLst/>
          </a:prstGeom>
        </p:spPr>
      </p:pic>
      <p:sp>
        <p:nvSpPr>
          <p:cNvPr id="19" name="Collection name 3"/>
          <p:cNvSpPr txBox="1"/>
          <p:nvPr/>
        </p:nvSpPr>
        <p:spPr>
          <a:xfrm>
            <a:off x="8229600" y="3200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</a:t>
            </a:r>
            <a:endParaRPr lang="en-US" sz="2600" dirty="0"/>
          </a:p>
        </p:txBody>
      </p:sp>
      <p:sp>
        <p:nvSpPr>
          <p:cNvPr id="20" name="Collection text 3"/>
          <p:cNvSpPr txBox="1"/>
          <p:nvPr/>
        </p:nvSpPr>
        <p:spPr>
          <a:xfrm>
            <a:off x="8229600" y="3840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2"/>
                </a:solidFill>
              </a:rPr>
              <a:t>One crack</a:t>
            </a:r>
            <a:endParaRPr lang="en-US" sz="1800" dirty="0"/>
          </a:p>
        </p:txBody>
      </p:sp>
      <p:sp>
        <p:nvSpPr>
          <p:cNvPr id="21" name="Fallback note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tx2"/>
                </a:solidFill>
              </a:rPr>
              <a:t>If MongoDB is offline the app keeps records in memory, so it still works.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collection</a:t>
            </a:r>
            <a:endParaRPr lang="en-US" sz="3600" dirty="0"/>
          </a:p>
        </p:txBody>
      </p:sp>
      <p:graphicFrame>
        <p:nvGraphicFramePr>
          <p:cNvPr id="35" name="Analysis field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430621"/>
              </p:ext>
            </p:extLst>
          </p:nvPr>
        </p:nvGraphicFramePr>
        <p:xfrm>
          <a:off x="548640" y="1463040"/>
          <a:ext cx="11064240" cy="4352544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analysis_id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Unique id of the session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status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Uploaded, Processing, Completed, Failed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total_images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Images in the batch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total_detected_regions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Cracks found in the batch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pixels_per_mm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Scale, default 10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severity_thresholds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Good / Medium / Heavy limits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collection</a:t>
            </a:r>
            <a:endParaRPr lang="en-US" sz="3600" dirty="0"/>
          </a:p>
        </p:txBody>
      </p:sp>
      <p:graphicFrame>
        <p:nvGraphicFramePr>
          <p:cNvPr id="36" name="Image field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632270"/>
              </p:ext>
            </p:extLst>
          </p:nvPr>
        </p:nvGraphicFramePr>
        <p:xfrm>
          <a:off x="548640" y="1463040"/>
          <a:ext cx="11064240" cy="4352544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image_id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Unique id of the image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analysis_id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Link to the batch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original_filename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Name of the uploaded file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resize_scale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Scale applied on load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workflow_times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Time per step in seconds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processed_paths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Paths of all stage images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 collection</a:t>
            </a:r>
            <a:endParaRPr lang="en-US" sz="3600" dirty="0"/>
          </a:p>
        </p:txBody>
      </p:sp>
      <p:graphicFrame>
        <p:nvGraphicFramePr>
          <p:cNvPr id="37" name="Measurement field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710286"/>
              </p:ext>
            </p:extLst>
          </p:nvPr>
        </p:nvGraphicFramePr>
        <p:xfrm>
          <a:off x="548640" y="1463040"/>
          <a:ext cx="11064240" cy="4352544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crack_id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Id of the crack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skeleton_length_px / mm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Centre-line length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mean_width_px / mm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Median width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max_width_px / mm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95th percentile width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contour_area_px / mm2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Crack area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severity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Good, Medium or Heavy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relationship diagram</a:t>
            </a:r>
            <a:endParaRPr lang="en-US" sz="3600" dirty="0"/>
          </a:p>
        </p:txBody>
      </p:sp>
      <p:pic>
        <p:nvPicPr>
          <p:cNvPr id="4" name="ER diagram" descr="Entity relationship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857" y="1280160"/>
            <a:ext cx="4163806" cy="5120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77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703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1"/>
                </a:solidFill>
              </a:rPr>
              <a:t>Project layout and user interface</a:t>
            </a:r>
            <a:endParaRPr lang="en-US" sz="2000" dirty="0"/>
          </a:p>
        </p:txBody>
      </p:sp>
      <p:sp>
        <p:nvSpPr>
          <p:cNvPr id="5" name="Section number"/>
          <p:cNvSpPr txBox="1"/>
          <p:nvPr/>
        </p:nvSpPr>
        <p:spPr>
          <a:xfrm>
            <a:off x="822960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6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folders</a:t>
            </a:r>
            <a:endParaRPr lang="en-US" sz="3600" dirty="0"/>
          </a:p>
        </p:txBody>
      </p:sp>
      <p:graphicFrame>
        <p:nvGraphicFramePr>
          <p:cNvPr id="40" name="Folde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517892"/>
              </p:ext>
            </p:extLst>
          </p:nvPr>
        </p:nvGraphicFramePr>
        <p:xfrm>
          <a:off x="548640" y="1463040"/>
          <a:ext cx="11064240" cy="453542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Folder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Holds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models/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Database and record handling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routes/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Web page and download endpoints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services/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Image processing and reports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templates/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HTML pages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static/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CSS and JavaScript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tests/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Automated tests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storage/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Uploaded and result files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services folder</a:t>
            </a:r>
            <a:endParaRPr lang="en-US" sz="3600" dirty="0"/>
          </a:p>
        </p:txBody>
      </p:sp>
      <p:graphicFrame>
        <p:nvGraphicFramePr>
          <p:cNvPr id="41" name="Servic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327833"/>
              </p:ext>
            </p:extLst>
          </p:nvPr>
        </p:nvGraphicFramePr>
        <p:xfrm>
          <a:off x="548640" y="1463040"/>
          <a:ext cx="11064240" cy="4352544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File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Job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preprocessing_service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CLAHE, blur, Black-Hat, threshold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detection_service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Find, filter and link cracks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measurement_service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Skeleton, width, length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calibration_service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Pixels to millimetres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classification_service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Good / Medium / Heavy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262B"/>
                          </a:solidFill>
                        </a:rPr>
                        <a:t>csv, pdf, zip service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62B"/>
                          </a:solidFill>
                        </a:rPr>
                        <a:t>Report export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size by folder</a:t>
            </a:r>
            <a:endParaRPr lang="en-US" sz="3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731520" y="1371600"/>
          <a:ext cx="106984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main pages</a:t>
            </a:r>
            <a:endParaRPr lang="en-US" sz="3600" dirty="0"/>
          </a:p>
        </p:txBody>
      </p:sp>
      <p:graphicFrame>
        <p:nvGraphicFramePr>
          <p:cNvPr id="43" name="Pag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76734"/>
              </p:ext>
            </p:extLst>
          </p:nvPr>
        </p:nvGraphicFramePr>
        <p:xfrm>
          <a:off x="548640" y="1463040"/>
          <a:ext cx="11064240" cy="31089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Page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Address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Use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2262B"/>
                          </a:solidFill>
                        </a:rPr>
                        <a:t>Upload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</a:rPr>
                        <a:t>/upload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</a:rPr>
                        <a:t>Start a new analysis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2262B"/>
                          </a:solidFill>
                        </a:rPr>
                        <a:t>History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</a:rPr>
                        <a:t>/history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</a:rPr>
                        <a:t>Open past inspections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2262B"/>
                          </a:solidFill>
                        </a:rPr>
                        <a:t>Results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</a:rPr>
                        <a:t>/analysis/&lt;id&gt;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</a:rPr>
                        <a:t>Images, table, downloads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page and results page</a:t>
            </a:r>
            <a:endParaRPr lang="en-US" sz="3600" dirty="0"/>
          </a:p>
        </p:txBody>
      </p:sp>
      <p:pic>
        <p:nvPicPr>
          <p:cNvPr id="4" name="Upload page" descr="Upload page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486400" cy="3657600"/>
          </a:xfrm>
          <a:prstGeom prst="rect">
            <a:avLst/>
          </a:prstGeom>
        </p:spPr>
      </p:pic>
      <p:pic>
        <p:nvPicPr>
          <p:cNvPr id="5" name="Results page" descr="Results page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71600"/>
            <a:ext cx="5486400" cy="3657600"/>
          </a:xfrm>
          <a:prstGeom prst="rect">
            <a:avLst/>
          </a:prstGeom>
        </p:spPr>
      </p:pic>
      <p:sp>
        <p:nvSpPr>
          <p:cNvPr id="6" name="Caption upload"/>
          <p:cNvSpPr txBox="1"/>
          <p:nvPr/>
        </p:nvSpPr>
        <p:spPr>
          <a:xfrm>
            <a:off x="548640" y="5166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Upload</a:t>
            </a:r>
            <a:endParaRPr lang="en-US" sz="1800" dirty="0"/>
          </a:p>
        </p:txBody>
      </p:sp>
      <p:sp>
        <p:nvSpPr>
          <p:cNvPr id="7" name="Caption results"/>
          <p:cNvSpPr txBox="1"/>
          <p:nvPr/>
        </p:nvSpPr>
        <p:spPr>
          <a:xfrm>
            <a:off x="6309360" y="5166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Results summary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page: image by image</a:t>
            </a:r>
            <a:endParaRPr lang="en-US" sz="3600" dirty="0"/>
          </a:p>
        </p:txBody>
      </p:sp>
      <p:pic>
        <p:nvPicPr>
          <p:cNvPr id="4" name="Per-image card" descr="Per-image results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17" y="1280160"/>
            <a:ext cx="5640125" cy="5120640"/>
          </a:xfrm>
          <a:prstGeom prst="rect">
            <a:avLst/>
          </a:prstGeom>
        </p:spPr>
      </p:pic>
      <p:sp>
        <p:nvSpPr>
          <p:cNvPr id="5" name="Feature card 1"/>
          <p:cNvSpPr/>
          <p:nvPr/>
        </p:nvSpPr>
        <p:spPr>
          <a:xfrm>
            <a:off x="6675120" y="1463040"/>
            <a:ext cx="49377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Feature 1 circle"/>
          <p:cNvSpPr/>
          <p:nvPr/>
        </p:nvSpPr>
        <p:spPr>
          <a:xfrm>
            <a:off x="6858000" y="164592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7" name="Feature 1 icon" descr="Fea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1805940"/>
            <a:ext cx="320040" cy="320040"/>
          </a:xfrm>
          <a:prstGeom prst="rect">
            <a:avLst/>
          </a:prstGeom>
        </p:spPr>
      </p:pic>
      <p:sp>
        <p:nvSpPr>
          <p:cNvPr id="8" name="Feature text 1"/>
          <p:cNvSpPr txBox="1"/>
          <p:nvPr/>
        </p:nvSpPr>
        <p:spPr>
          <a:xfrm>
            <a:off x="7680960" y="16002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Original + annotated</a:t>
            </a:r>
            <a:endParaRPr lang="en-US" sz="2000" dirty="0"/>
          </a:p>
        </p:txBody>
      </p:sp>
      <p:sp>
        <p:nvSpPr>
          <p:cNvPr id="9" name="Feature card 2"/>
          <p:cNvSpPr/>
          <p:nvPr/>
        </p:nvSpPr>
        <p:spPr>
          <a:xfrm>
            <a:off x="6675120" y="2651760"/>
            <a:ext cx="49377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Feature 2 circle"/>
          <p:cNvSpPr/>
          <p:nvPr/>
        </p:nvSpPr>
        <p:spPr>
          <a:xfrm>
            <a:off x="6858000" y="2834640"/>
            <a:ext cx="640080" cy="64008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1" name="Feature 2 icon" descr="Fea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8020" y="2994660"/>
            <a:ext cx="320040" cy="320040"/>
          </a:xfrm>
          <a:prstGeom prst="rect">
            <a:avLst/>
          </a:prstGeom>
        </p:spPr>
      </p:pic>
      <p:sp>
        <p:nvSpPr>
          <p:cNvPr id="12" name="Feature text 2"/>
          <p:cNvSpPr txBox="1"/>
          <p:nvPr/>
        </p:nvSpPr>
        <p:spPr>
          <a:xfrm>
            <a:off x="7680960" y="27889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Final crack mask</a:t>
            </a:r>
            <a:endParaRPr lang="en-US" sz="2000" dirty="0"/>
          </a:p>
        </p:txBody>
      </p:sp>
      <p:sp>
        <p:nvSpPr>
          <p:cNvPr id="13" name="Feature card 3"/>
          <p:cNvSpPr/>
          <p:nvPr/>
        </p:nvSpPr>
        <p:spPr>
          <a:xfrm>
            <a:off x="6675120" y="3840480"/>
            <a:ext cx="49377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Feature 3 circle"/>
          <p:cNvSpPr/>
          <p:nvPr/>
        </p:nvSpPr>
        <p:spPr>
          <a:xfrm>
            <a:off x="6858000" y="4023360"/>
            <a:ext cx="640080" cy="64008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15" name="Feature 3 icon" descr="Fea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8020" y="4183380"/>
            <a:ext cx="320040" cy="320040"/>
          </a:xfrm>
          <a:prstGeom prst="rect">
            <a:avLst/>
          </a:prstGeom>
        </p:spPr>
      </p:pic>
      <p:sp>
        <p:nvSpPr>
          <p:cNvPr id="16" name="Feature text 3"/>
          <p:cNvSpPr txBox="1"/>
          <p:nvPr/>
        </p:nvSpPr>
        <p:spPr>
          <a:xfrm>
            <a:off x="7680960" y="39776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All stage images</a:t>
            </a:r>
            <a:endParaRPr lang="en-US" sz="2000" dirty="0"/>
          </a:p>
        </p:txBody>
      </p:sp>
      <p:sp>
        <p:nvSpPr>
          <p:cNvPr id="17" name="Feature card 4"/>
          <p:cNvSpPr/>
          <p:nvPr/>
        </p:nvSpPr>
        <p:spPr>
          <a:xfrm>
            <a:off x="6675120" y="5029200"/>
            <a:ext cx="49377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Feature 4 circle"/>
          <p:cNvSpPr/>
          <p:nvPr/>
        </p:nvSpPr>
        <p:spPr>
          <a:xfrm>
            <a:off x="6858000" y="5212080"/>
            <a:ext cx="640080" cy="64008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9" name="Feature 4 icon" descr="Fea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8020" y="5372100"/>
            <a:ext cx="320040" cy="320040"/>
          </a:xfrm>
          <a:prstGeom prst="rect">
            <a:avLst/>
          </a:prstGeom>
        </p:spPr>
      </p:pic>
      <p:sp>
        <p:nvSpPr>
          <p:cNvPr id="20" name="Feature text 4"/>
          <p:cNvSpPr txBox="1"/>
          <p:nvPr/>
        </p:nvSpPr>
        <p:spPr>
          <a:xfrm>
            <a:off x="7680960" y="51663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Time per stage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Reports: CSV, PDF, ZIP</a:t>
            </a:r>
            <a:endParaRPr lang="en-US" sz="3600" dirty="0"/>
          </a:p>
        </p:txBody>
      </p:sp>
      <p:pic>
        <p:nvPicPr>
          <p:cNvPr id="4" name="PDF page" descr="Page of the PDF repo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97" y="1280160"/>
            <a:ext cx="3620086" cy="5120640"/>
          </a:xfrm>
          <a:prstGeom prst="rect">
            <a:avLst/>
          </a:prstGeom>
        </p:spPr>
      </p:pic>
      <p:pic>
        <p:nvPicPr>
          <p:cNvPr id="5" name="CSV table" descr="CSV report as tab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567483"/>
            <a:ext cx="7040880" cy="1162714"/>
          </a:xfrm>
          <a:prstGeom prst="rect">
            <a:avLst/>
          </a:prstGeom>
        </p:spPr>
      </p:pic>
      <p:sp>
        <p:nvSpPr>
          <p:cNvPr id="6" name="Stat CSV"/>
          <p:cNvSpPr/>
          <p:nvPr/>
        </p:nvSpPr>
        <p:spPr>
          <a:xfrm>
            <a:off x="4572000" y="3291840"/>
            <a:ext cx="21945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Stat CSV value"/>
          <p:cNvSpPr txBox="1"/>
          <p:nvPr/>
        </p:nvSpPr>
        <p:spPr>
          <a:xfrm>
            <a:off x="4754880" y="3429000"/>
            <a:ext cx="18288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4000" dirty="0"/>
          </a:p>
        </p:txBody>
      </p:sp>
      <p:sp>
        <p:nvSpPr>
          <p:cNvPr id="8" name="Stat CSV label"/>
          <p:cNvSpPr txBox="1"/>
          <p:nvPr/>
        </p:nvSpPr>
        <p:spPr>
          <a:xfrm>
            <a:off x="4754880" y="4369003"/>
            <a:ext cx="182880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CSV columns</a:t>
            </a:r>
            <a:endParaRPr lang="en-US" sz="1400" dirty="0"/>
          </a:p>
        </p:txBody>
      </p:sp>
      <p:sp>
        <p:nvSpPr>
          <p:cNvPr id="9" name="Stat PDF"/>
          <p:cNvSpPr/>
          <p:nvPr/>
        </p:nvSpPr>
        <p:spPr>
          <a:xfrm>
            <a:off x="6995160" y="3291840"/>
            <a:ext cx="21945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Stat PDF value"/>
          <p:cNvSpPr txBox="1"/>
          <p:nvPr/>
        </p:nvSpPr>
        <p:spPr>
          <a:xfrm>
            <a:off x="7178040" y="3429000"/>
            <a:ext cx="18288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4000" dirty="0"/>
          </a:p>
        </p:txBody>
      </p:sp>
      <p:sp>
        <p:nvSpPr>
          <p:cNvPr id="11" name="Stat PDF label"/>
          <p:cNvSpPr txBox="1"/>
          <p:nvPr/>
        </p:nvSpPr>
        <p:spPr>
          <a:xfrm>
            <a:off x="7178040" y="4369003"/>
            <a:ext cx="182880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PDF pages</a:t>
            </a:r>
            <a:endParaRPr lang="en-US" sz="1400" dirty="0"/>
          </a:p>
        </p:txBody>
      </p:sp>
      <p:sp>
        <p:nvSpPr>
          <p:cNvPr id="12" name="Stat ZIP"/>
          <p:cNvSpPr/>
          <p:nvPr/>
        </p:nvSpPr>
        <p:spPr>
          <a:xfrm>
            <a:off x="9418320" y="3291840"/>
            <a:ext cx="21945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Stat ZIP value"/>
          <p:cNvSpPr txBox="1"/>
          <p:nvPr/>
        </p:nvSpPr>
        <p:spPr>
          <a:xfrm>
            <a:off x="9601200" y="3429000"/>
            <a:ext cx="18288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4000" dirty="0"/>
          </a:p>
        </p:txBody>
      </p:sp>
      <p:sp>
        <p:nvSpPr>
          <p:cNvPr id="14" name="Stat ZIP label"/>
          <p:cNvSpPr txBox="1"/>
          <p:nvPr/>
        </p:nvSpPr>
        <p:spPr>
          <a:xfrm>
            <a:off x="9601200" y="4369003"/>
            <a:ext cx="182880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files in ZIP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run</a:t>
            </a:r>
            <a:endParaRPr lang="en-US" sz="3600" dirty="0"/>
          </a:p>
        </p:txBody>
      </p:sp>
      <p:sp>
        <p:nvSpPr>
          <p:cNvPr id="4" name="Run card 1"/>
          <p:cNvSpPr/>
          <p:nvPr/>
        </p:nvSpPr>
        <p:spPr>
          <a:xfrm>
            <a:off x="548640" y="164592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Run 1 circle"/>
          <p:cNvSpPr/>
          <p:nvPr/>
        </p:nvSpPr>
        <p:spPr>
          <a:xfrm>
            <a:off x="1463040" y="1920240"/>
            <a:ext cx="777240" cy="7772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6" name="Run 1 icon" descr="Ru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50" y="2114550"/>
            <a:ext cx="388620" cy="388620"/>
          </a:xfrm>
          <a:prstGeom prst="rect">
            <a:avLst/>
          </a:prstGeom>
        </p:spPr>
      </p:pic>
      <p:sp>
        <p:nvSpPr>
          <p:cNvPr id="7" name="Run title 1"/>
          <p:cNvSpPr txBox="1"/>
          <p:nvPr/>
        </p:nvSpPr>
        <p:spPr>
          <a:xfrm>
            <a:off x="685800" y="2926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A</a:t>
            </a:r>
            <a:endParaRPr lang="en-US" sz="2400" dirty="0"/>
          </a:p>
        </p:txBody>
      </p:sp>
      <p:sp>
        <p:nvSpPr>
          <p:cNvPr id="8" name="Run text 1"/>
          <p:cNvSpPr txBox="1"/>
          <p:nvPr/>
        </p:nvSpPr>
        <p:spPr>
          <a:xfrm>
            <a:off x="777240" y="36118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tx2"/>
                </a:solidFill>
              </a:rPr>
              <a:t>Double-click run_crackscope.bat</a:t>
            </a:r>
            <a:endParaRPr lang="en-US" sz="1700" dirty="0"/>
          </a:p>
        </p:txBody>
      </p:sp>
      <p:sp>
        <p:nvSpPr>
          <p:cNvPr id="9" name="Run card 2"/>
          <p:cNvSpPr/>
          <p:nvPr/>
        </p:nvSpPr>
        <p:spPr>
          <a:xfrm>
            <a:off x="3383280" y="164592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Run 2 circle"/>
          <p:cNvSpPr/>
          <p:nvPr/>
        </p:nvSpPr>
        <p:spPr>
          <a:xfrm>
            <a:off x="4297680" y="1920240"/>
            <a:ext cx="777240" cy="7772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1" name="Run 2 icon" descr="Ru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990" y="2114550"/>
            <a:ext cx="388620" cy="388620"/>
          </a:xfrm>
          <a:prstGeom prst="rect">
            <a:avLst/>
          </a:prstGeom>
        </p:spPr>
      </p:pic>
      <p:sp>
        <p:nvSpPr>
          <p:cNvPr id="12" name="Run title 2"/>
          <p:cNvSpPr txBox="1"/>
          <p:nvPr/>
        </p:nvSpPr>
        <p:spPr>
          <a:xfrm>
            <a:off x="3520440" y="2926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B</a:t>
            </a:r>
            <a:endParaRPr lang="en-US" sz="2400" dirty="0"/>
          </a:p>
        </p:txBody>
      </p:sp>
      <p:sp>
        <p:nvSpPr>
          <p:cNvPr id="13" name="Run text 2"/>
          <p:cNvSpPr txBox="1"/>
          <p:nvPr/>
        </p:nvSpPr>
        <p:spPr>
          <a:xfrm>
            <a:off x="3611880" y="36118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tx2"/>
                </a:solidFill>
              </a:rPr>
              <a:t>Activate the environment, run python app.py</a:t>
            </a:r>
            <a:endParaRPr lang="en-US" sz="1700" dirty="0"/>
          </a:p>
        </p:txBody>
      </p:sp>
      <p:sp>
        <p:nvSpPr>
          <p:cNvPr id="14" name="Run card 3"/>
          <p:cNvSpPr/>
          <p:nvPr/>
        </p:nvSpPr>
        <p:spPr>
          <a:xfrm>
            <a:off x="6217920" y="164592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Run 3 circle"/>
          <p:cNvSpPr/>
          <p:nvPr/>
        </p:nvSpPr>
        <p:spPr>
          <a:xfrm>
            <a:off x="7132320" y="1920240"/>
            <a:ext cx="777240" cy="77724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16" name="Run 3 icon" descr="Ru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630" y="2114550"/>
            <a:ext cx="388620" cy="388620"/>
          </a:xfrm>
          <a:prstGeom prst="rect">
            <a:avLst/>
          </a:prstGeom>
        </p:spPr>
      </p:pic>
      <p:sp>
        <p:nvSpPr>
          <p:cNvPr id="17" name="Run title 3"/>
          <p:cNvSpPr txBox="1"/>
          <p:nvPr/>
        </p:nvSpPr>
        <p:spPr>
          <a:xfrm>
            <a:off x="6355080" y="2926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</a:t>
            </a:r>
            <a:endParaRPr lang="en-US" sz="2400" dirty="0"/>
          </a:p>
        </p:txBody>
      </p:sp>
      <p:sp>
        <p:nvSpPr>
          <p:cNvPr id="18" name="Run text 3"/>
          <p:cNvSpPr txBox="1"/>
          <p:nvPr/>
        </p:nvSpPr>
        <p:spPr>
          <a:xfrm>
            <a:off x="6446520" y="36118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tx2"/>
                </a:solidFill>
              </a:rPr>
              <a:t>http://127.0.0.1:5000</a:t>
            </a:r>
            <a:endParaRPr lang="en-US" sz="1700" dirty="0"/>
          </a:p>
        </p:txBody>
      </p:sp>
      <p:sp>
        <p:nvSpPr>
          <p:cNvPr id="19" name="Run card 4"/>
          <p:cNvSpPr/>
          <p:nvPr/>
        </p:nvSpPr>
        <p:spPr>
          <a:xfrm>
            <a:off x="9052560" y="164592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Run 4 circle"/>
          <p:cNvSpPr/>
          <p:nvPr/>
        </p:nvSpPr>
        <p:spPr>
          <a:xfrm>
            <a:off x="9966960" y="1920240"/>
            <a:ext cx="777240" cy="77724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21" name="Run 4 icon" descr="Ru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1270" y="2114550"/>
            <a:ext cx="388620" cy="388620"/>
          </a:xfrm>
          <a:prstGeom prst="rect">
            <a:avLst/>
          </a:prstGeom>
        </p:spPr>
      </p:pic>
      <p:sp>
        <p:nvSpPr>
          <p:cNvPr id="22" name="Run title 4"/>
          <p:cNvSpPr txBox="1"/>
          <p:nvPr/>
        </p:nvSpPr>
        <p:spPr>
          <a:xfrm>
            <a:off x="9189720" y="2926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2400" dirty="0"/>
          </a:p>
        </p:txBody>
      </p:sp>
      <p:sp>
        <p:nvSpPr>
          <p:cNvPr id="23" name="Run text 4"/>
          <p:cNvSpPr txBox="1"/>
          <p:nvPr/>
        </p:nvSpPr>
        <p:spPr>
          <a:xfrm>
            <a:off x="9281160" y="36118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tx2"/>
                </a:solidFill>
              </a:rPr>
              <a:t>Run pytest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77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Results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703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1"/>
                </a:solidFill>
              </a:rPr>
              <a:t>What was measured</a:t>
            </a:r>
            <a:endParaRPr lang="en-US" sz="2000" dirty="0"/>
          </a:p>
        </p:txBody>
      </p:sp>
      <p:sp>
        <p:nvSpPr>
          <p:cNvPr id="5" name="Section number"/>
          <p:cNvSpPr txBox="1"/>
          <p:nvPr/>
        </p:nvSpPr>
        <p:spPr>
          <a:xfrm>
            <a:off x="822960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6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summary</a:t>
            </a:r>
            <a:endParaRPr lang="en-US" sz="3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51206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tat pass"/>
          <p:cNvSpPr/>
          <p:nvPr/>
        </p:nvSpPr>
        <p:spPr>
          <a:xfrm>
            <a:off x="6217920" y="1463040"/>
            <a:ext cx="53949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Stat pass value"/>
          <p:cNvSpPr txBox="1"/>
          <p:nvPr/>
        </p:nvSpPr>
        <p:spPr>
          <a:xfrm>
            <a:off x="6400800" y="1600200"/>
            <a:ext cx="50292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16</a:t>
            </a:r>
            <a:endParaRPr lang="en-US" sz="4000" dirty="0"/>
          </a:p>
        </p:txBody>
      </p:sp>
      <p:sp>
        <p:nvSpPr>
          <p:cNvPr id="7" name="Stat pass label"/>
          <p:cNvSpPr txBox="1"/>
          <p:nvPr/>
        </p:nvSpPr>
        <p:spPr>
          <a:xfrm>
            <a:off x="6400800" y="2341778"/>
            <a:ext cx="5029200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automated tests passed</a:t>
            </a:r>
            <a:endParaRPr lang="en-US" sz="1400" dirty="0"/>
          </a:p>
        </p:txBody>
      </p:sp>
      <p:sp>
        <p:nvSpPr>
          <p:cNvPr id="8" name="Stat reject"/>
          <p:cNvSpPr/>
          <p:nvPr/>
        </p:nvSpPr>
        <p:spPr>
          <a:xfrm>
            <a:off x="6217920" y="3063240"/>
            <a:ext cx="53949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Stat reject value"/>
          <p:cNvSpPr txBox="1"/>
          <p:nvPr/>
        </p:nvSpPr>
        <p:spPr>
          <a:xfrm>
            <a:off x="6400800" y="3200400"/>
            <a:ext cx="50292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4</a:t>
            </a:r>
            <a:endParaRPr lang="en-US" sz="4000" dirty="0"/>
          </a:p>
        </p:txBody>
      </p:sp>
      <p:sp>
        <p:nvSpPr>
          <p:cNvPr id="10" name="Stat reject label"/>
          <p:cNvSpPr txBox="1"/>
          <p:nvPr/>
        </p:nvSpPr>
        <p:spPr>
          <a:xfrm>
            <a:off x="6400800" y="3941978"/>
            <a:ext cx="5029200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non-crack images rejected</a:t>
            </a:r>
            <a:endParaRPr lang="en-US" sz="1400" dirty="0"/>
          </a:p>
        </p:txBody>
      </p:sp>
      <p:sp>
        <p:nvSpPr>
          <p:cNvPr id="11" name="Stat speed"/>
          <p:cNvSpPr/>
          <p:nvPr/>
        </p:nvSpPr>
        <p:spPr>
          <a:xfrm>
            <a:off x="6217920" y="4663440"/>
            <a:ext cx="53949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Stat speed value"/>
          <p:cNvSpPr txBox="1"/>
          <p:nvPr/>
        </p:nvSpPr>
        <p:spPr>
          <a:xfrm>
            <a:off x="6400800" y="4800600"/>
            <a:ext cx="50292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 s</a:t>
            </a:r>
            <a:endParaRPr lang="en-US" sz="4000" dirty="0"/>
          </a:p>
        </p:txBody>
      </p:sp>
      <p:sp>
        <p:nvSpPr>
          <p:cNvPr id="13" name="Stat speed label"/>
          <p:cNvSpPr txBox="1"/>
          <p:nvPr/>
        </p:nvSpPr>
        <p:spPr>
          <a:xfrm>
            <a:off x="6400800" y="5542178"/>
            <a:ext cx="5029200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per 1600 × 1200 image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Width accuracy</a:t>
            </a:r>
            <a:endParaRPr lang="en-US" sz="3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75895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tat error"/>
          <p:cNvSpPr/>
          <p:nvPr/>
        </p:nvSpPr>
        <p:spPr>
          <a:xfrm>
            <a:off x="8503920" y="1463040"/>
            <a:ext cx="31089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Stat error value"/>
          <p:cNvSpPr txBox="1"/>
          <p:nvPr/>
        </p:nvSpPr>
        <p:spPr>
          <a:xfrm>
            <a:off x="8686800" y="1600200"/>
            <a:ext cx="2743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±0.6 px</a:t>
            </a:r>
            <a:endParaRPr lang="en-US" sz="4000" dirty="0"/>
          </a:p>
        </p:txBody>
      </p:sp>
      <p:sp>
        <p:nvSpPr>
          <p:cNvPr id="7" name="Stat error label"/>
          <p:cNvSpPr txBox="1"/>
          <p:nvPr/>
        </p:nvSpPr>
        <p:spPr>
          <a:xfrm>
            <a:off x="8686800" y="2823667"/>
            <a:ext cx="2743200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mean width error</a:t>
            </a:r>
            <a:endParaRPr lang="en-US" sz="1400" dirty="0"/>
          </a:p>
        </p:txBody>
      </p:sp>
      <p:sp>
        <p:nvSpPr>
          <p:cNvPr id="8" name="Stat relative"/>
          <p:cNvSpPr/>
          <p:nvPr/>
        </p:nvSpPr>
        <p:spPr>
          <a:xfrm>
            <a:off x="8503920" y="3931920"/>
            <a:ext cx="31089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Stat relative value"/>
          <p:cNvSpPr txBox="1"/>
          <p:nvPr/>
        </p:nvSpPr>
        <p:spPr>
          <a:xfrm>
            <a:off x="8686800" y="4069080"/>
            <a:ext cx="2743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 to +12 %</a:t>
            </a:r>
            <a:endParaRPr lang="en-US" sz="4000" dirty="0"/>
          </a:p>
        </p:txBody>
      </p:sp>
      <p:sp>
        <p:nvSpPr>
          <p:cNvPr id="10" name="Stat relative label"/>
          <p:cNvSpPr txBox="1"/>
          <p:nvPr/>
        </p:nvSpPr>
        <p:spPr>
          <a:xfrm>
            <a:off x="8686800" y="5292547"/>
            <a:ext cx="2743200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relative error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for each width</a:t>
            </a:r>
            <a:endParaRPr lang="en-US" sz="3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Faint cracks are missed</a:t>
            </a:r>
            <a:endParaRPr lang="en-US" sz="3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75895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tat contrast"/>
          <p:cNvSpPr/>
          <p:nvPr/>
        </p:nvSpPr>
        <p:spPr>
          <a:xfrm>
            <a:off x="8503920" y="1463040"/>
            <a:ext cx="3108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Stat contrast value"/>
          <p:cNvSpPr txBox="1"/>
          <p:nvPr/>
        </p:nvSpPr>
        <p:spPr>
          <a:xfrm>
            <a:off x="8686800" y="1600200"/>
            <a:ext cx="27432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35</a:t>
            </a:r>
            <a:endParaRPr lang="en-US" sz="4000" dirty="0"/>
          </a:p>
        </p:txBody>
      </p:sp>
      <p:sp>
        <p:nvSpPr>
          <p:cNvPr id="7" name="Stat contrast label"/>
          <p:cNvSpPr txBox="1"/>
          <p:nvPr/>
        </p:nvSpPr>
        <p:spPr>
          <a:xfrm>
            <a:off x="8686800" y="2766974"/>
            <a:ext cx="274320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grey levels needed</a:t>
            </a:r>
            <a:endParaRPr lang="en-US" sz="1400" dirty="0"/>
          </a:p>
        </p:txBody>
      </p:sp>
      <p:sp>
        <p:nvSpPr>
          <p:cNvPr id="8" name="Stat noise"/>
          <p:cNvSpPr/>
          <p:nvPr/>
        </p:nvSpPr>
        <p:spPr>
          <a:xfrm>
            <a:off x="8503920" y="3840480"/>
            <a:ext cx="3108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Stat noise value"/>
          <p:cNvSpPr txBox="1"/>
          <p:nvPr/>
        </p:nvSpPr>
        <p:spPr>
          <a:xfrm>
            <a:off x="8686800" y="3977640"/>
            <a:ext cx="27432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4000" dirty="0"/>
          </a:p>
        </p:txBody>
      </p:sp>
      <p:sp>
        <p:nvSpPr>
          <p:cNvPr id="10" name="Stat noise label"/>
          <p:cNvSpPr txBox="1"/>
          <p:nvPr/>
        </p:nvSpPr>
        <p:spPr>
          <a:xfrm>
            <a:off x="8686800" y="5144414"/>
            <a:ext cx="274320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detected at every noise level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 error depends on angle</a:t>
            </a:r>
            <a:endParaRPr lang="en-US" sz="3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75895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tat oblique"/>
          <p:cNvSpPr/>
          <p:nvPr/>
        </p:nvSpPr>
        <p:spPr>
          <a:xfrm>
            <a:off x="8503920" y="1463040"/>
            <a:ext cx="3108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Stat oblique value"/>
          <p:cNvSpPr txBox="1"/>
          <p:nvPr/>
        </p:nvSpPr>
        <p:spPr>
          <a:xfrm>
            <a:off x="8686800" y="1600200"/>
            <a:ext cx="27432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+6–7 %</a:t>
            </a:r>
            <a:endParaRPr lang="en-US" sz="4000" dirty="0"/>
          </a:p>
        </p:txBody>
      </p:sp>
      <p:sp>
        <p:nvSpPr>
          <p:cNvPr id="7" name="Stat oblique label"/>
          <p:cNvSpPr txBox="1"/>
          <p:nvPr/>
        </p:nvSpPr>
        <p:spPr>
          <a:xfrm>
            <a:off x="8686800" y="2766974"/>
            <a:ext cx="274320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at oblique angles</a:t>
            </a:r>
            <a:endParaRPr lang="en-US" sz="1400" dirty="0"/>
          </a:p>
        </p:txBody>
      </p:sp>
      <p:sp>
        <p:nvSpPr>
          <p:cNvPr id="8" name="Stat axis"/>
          <p:cNvSpPr/>
          <p:nvPr/>
        </p:nvSpPr>
        <p:spPr>
          <a:xfrm>
            <a:off x="8503920" y="3840480"/>
            <a:ext cx="3108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Stat axis value"/>
          <p:cNvSpPr txBox="1"/>
          <p:nvPr/>
        </p:nvSpPr>
        <p:spPr>
          <a:xfrm>
            <a:off x="8686800" y="3977640"/>
            <a:ext cx="27432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−1 %</a:t>
            </a:r>
            <a:endParaRPr lang="en-US" sz="4000" dirty="0"/>
          </a:p>
        </p:txBody>
      </p:sp>
      <p:sp>
        <p:nvSpPr>
          <p:cNvPr id="10" name="Stat axis label"/>
          <p:cNvSpPr txBox="1"/>
          <p:nvPr/>
        </p:nvSpPr>
        <p:spPr>
          <a:xfrm>
            <a:off x="8686800" y="5144414"/>
            <a:ext cx="274320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at 0°, 45°, 90°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</a:t>
            </a:r>
            <a:endParaRPr lang="en-US" sz="3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56692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492240" y="1371600"/>
          <a:ext cx="51206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on a test image</a:t>
            </a:r>
            <a:endParaRPr lang="en-US" sz="3600" dirty="0"/>
          </a:p>
        </p:txBody>
      </p:sp>
      <p:pic>
        <p:nvPicPr>
          <p:cNvPr id="4" name="Result panels" descr="Input, annotated, skeleton and width imag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10972800" cy="2926080"/>
          </a:xfrm>
          <a:prstGeom prst="rect">
            <a:avLst/>
          </a:prstGeom>
        </p:spPr>
      </p:pic>
      <p:sp>
        <p:nvSpPr>
          <p:cNvPr id="5" name="Stat L"/>
          <p:cNvSpPr/>
          <p:nvPr/>
        </p:nvSpPr>
        <p:spPr>
          <a:xfrm>
            <a:off x="548640" y="4572000"/>
            <a:ext cx="34747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Stat L value"/>
          <p:cNvSpPr txBox="1"/>
          <p:nvPr/>
        </p:nvSpPr>
        <p:spPr>
          <a:xfrm>
            <a:off x="731520" y="4709160"/>
            <a:ext cx="31089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609.6 px</a:t>
            </a:r>
            <a:endParaRPr lang="en-US" sz="4000" dirty="0"/>
          </a:p>
        </p:txBody>
      </p:sp>
      <p:sp>
        <p:nvSpPr>
          <p:cNvPr id="7" name="Stat L label"/>
          <p:cNvSpPr txBox="1"/>
          <p:nvPr/>
        </p:nvSpPr>
        <p:spPr>
          <a:xfrm>
            <a:off x="731520" y="5535778"/>
            <a:ext cx="310896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length = 60.96 mm</a:t>
            </a:r>
            <a:endParaRPr lang="en-US" sz="1400" dirty="0"/>
          </a:p>
        </p:txBody>
      </p:sp>
      <p:sp>
        <p:nvSpPr>
          <p:cNvPr id="8" name="Stat W"/>
          <p:cNvSpPr/>
          <p:nvPr/>
        </p:nvSpPr>
        <p:spPr>
          <a:xfrm>
            <a:off x="4343400" y="4572000"/>
            <a:ext cx="34747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Stat W value"/>
          <p:cNvSpPr txBox="1"/>
          <p:nvPr/>
        </p:nvSpPr>
        <p:spPr>
          <a:xfrm>
            <a:off x="4526280" y="4709160"/>
            <a:ext cx="31089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7.19 px</a:t>
            </a:r>
            <a:endParaRPr lang="en-US" sz="4000" dirty="0"/>
          </a:p>
        </p:txBody>
      </p:sp>
      <p:sp>
        <p:nvSpPr>
          <p:cNvPr id="10" name="Stat W label"/>
          <p:cNvSpPr txBox="1"/>
          <p:nvPr/>
        </p:nvSpPr>
        <p:spPr>
          <a:xfrm>
            <a:off x="4526280" y="5535778"/>
            <a:ext cx="310896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mean width = 0.72 mm</a:t>
            </a:r>
            <a:endParaRPr lang="en-US" sz="1400" dirty="0"/>
          </a:p>
        </p:txBody>
      </p:sp>
      <p:sp>
        <p:nvSpPr>
          <p:cNvPr id="11" name="Stat S"/>
          <p:cNvSpPr/>
          <p:nvPr/>
        </p:nvSpPr>
        <p:spPr>
          <a:xfrm>
            <a:off x="8138160" y="4572000"/>
            <a:ext cx="34747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Stat S value"/>
          <p:cNvSpPr txBox="1"/>
          <p:nvPr/>
        </p:nvSpPr>
        <p:spPr>
          <a:xfrm>
            <a:off x="8321040" y="4709160"/>
            <a:ext cx="31089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4000" dirty="0"/>
          </a:p>
        </p:txBody>
      </p:sp>
      <p:sp>
        <p:nvSpPr>
          <p:cNvPr id="13" name="Stat S label"/>
          <p:cNvSpPr txBox="1"/>
          <p:nvPr/>
        </p:nvSpPr>
        <p:spPr>
          <a:xfrm>
            <a:off x="8321040" y="5535778"/>
            <a:ext cx="310896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severity label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77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703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1"/>
                </a:solidFill>
              </a:rPr>
              <a:t>Limits, future work, conclusion</a:t>
            </a:r>
            <a:endParaRPr lang="en-US" sz="2000" dirty="0"/>
          </a:p>
        </p:txBody>
      </p:sp>
      <p:sp>
        <p:nvSpPr>
          <p:cNvPr id="5" name="Section number"/>
          <p:cNvSpPr txBox="1"/>
          <p:nvPr/>
        </p:nvSpPr>
        <p:spPr>
          <a:xfrm>
            <a:off x="822960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6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3600" dirty="0"/>
          </a:p>
        </p:txBody>
      </p:sp>
      <p:graphicFrame>
        <p:nvGraphicFramePr>
          <p:cNvPr id="57" name="Limitatio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421885"/>
              </p:ext>
            </p:extLst>
          </p:nvPr>
        </p:nvGraphicFramePr>
        <p:xfrm>
          <a:off x="548640" y="1463040"/>
          <a:ext cx="11064240" cy="438912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Detail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2262B"/>
                          </a:solidFill>
                        </a:rPr>
                        <a:t>Synthetic tests only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</a:rPr>
                        <a:t>No real-photo benchmark yet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2262B"/>
                          </a:solidFill>
                        </a:rPr>
                        <a:t>Fixed scale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</a:rPr>
                        <a:t>10 px = 1 mm, not resize-aware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2262B"/>
                          </a:solidFill>
                        </a:rPr>
                        <a:t>Faint cracks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</a:rPr>
                        <a:t>Missed under ~30 grey levels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2262B"/>
                          </a:solidFill>
                        </a:rPr>
                        <a:t>Oblique length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</a:rPr>
                        <a:t>+6–7 % too long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2262B"/>
                          </a:solidFill>
                        </a:rPr>
                        <a:t>No login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</a:rPr>
                        <a:t>For local use only</a:t>
                      </a:r>
                      <a:endParaRPr lang="en-US" sz="20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600" dirty="0"/>
          </a:p>
        </p:txBody>
      </p:sp>
      <p:sp>
        <p:nvSpPr>
          <p:cNvPr id="4" name="Future card 1"/>
          <p:cNvSpPr/>
          <p:nvPr/>
        </p:nvSpPr>
        <p:spPr>
          <a:xfrm>
            <a:off x="548640" y="201168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FDF1DC"/>
          </a:solidFill>
          <a:ln w="6350">
            <a:solidFill>
              <a:srgbClr val="FDF1DC"/>
            </a:solidFill>
            <a:prstDash val="solid"/>
          </a:ln>
        </p:spPr>
      </p:sp>
      <p:sp>
        <p:nvSpPr>
          <p:cNvPr id="5" name="Future 1 circle"/>
          <p:cNvSpPr/>
          <p:nvPr/>
        </p:nvSpPr>
        <p:spPr>
          <a:xfrm>
            <a:off x="1188720" y="2377440"/>
            <a:ext cx="777240" cy="7772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6" name="Future 1 icon" descr="Fu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030" y="2571750"/>
            <a:ext cx="388620" cy="388620"/>
          </a:xfrm>
          <a:prstGeom prst="rect">
            <a:avLst/>
          </a:prstGeom>
        </p:spPr>
      </p:pic>
      <p:sp>
        <p:nvSpPr>
          <p:cNvPr id="7" name="Future title 1"/>
          <p:cNvSpPr txBox="1"/>
          <p:nvPr/>
        </p:nvSpPr>
        <p:spPr>
          <a:xfrm>
            <a:off x="685800" y="34747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datasets</a:t>
            </a:r>
            <a:endParaRPr lang="en-US" sz="2000" dirty="0"/>
          </a:p>
        </p:txBody>
      </p:sp>
      <p:sp>
        <p:nvSpPr>
          <p:cNvPr id="8" name="Future card 2"/>
          <p:cNvSpPr/>
          <p:nvPr/>
        </p:nvSpPr>
        <p:spPr>
          <a:xfrm>
            <a:off x="2788920" y="2011680"/>
            <a:ext cx="2057400" cy="27432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Future 2 circle"/>
          <p:cNvSpPr/>
          <p:nvPr/>
        </p:nvSpPr>
        <p:spPr>
          <a:xfrm>
            <a:off x="3429000" y="2377440"/>
            <a:ext cx="777240" cy="7772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0" name="Future 2 icon" descr="Fu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3310" y="2571750"/>
            <a:ext cx="388620" cy="388620"/>
          </a:xfrm>
          <a:prstGeom prst="rect">
            <a:avLst/>
          </a:prstGeom>
        </p:spPr>
      </p:pic>
      <p:sp>
        <p:nvSpPr>
          <p:cNvPr id="11" name="Future title 2"/>
          <p:cNvSpPr txBox="1"/>
          <p:nvPr/>
        </p:nvSpPr>
        <p:spPr>
          <a:xfrm>
            <a:off x="2926080" y="34747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length</a:t>
            </a:r>
            <a:endParaRPr lang="en-US" sz="2000" dirty="0"/>
          </a:p>
        </p:txBody>
      </p:sp>
      <p:sp>
        <p:nvSpPr>
          <p:cNvPr id="12" name="Future card 3"/>
          <p:cNvSpPr/>
          <p:nvPr/>
        </p:nvSpPr>
        <p:spPr>
          <a:xfrm>
            <a:off x="5029200" y="201168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FDF1DC"/>
          </a:solidFill>
          <a:ln w="6350">
            <a:solidFill>
              <a:srgbClr val="FDF1DC"/>
            </a:solidFill>
            <a:prstDash val="solid"/>
          </a:ln>
        </p:spPr>
      </p:sp>
      <p:sp>
        <p:nvSpPr>
          <p:cNvPr id="13" name="Future 3 circle"/>
          <p:cNvSpPr/>
          <p:nvPr/>
        </p:nvSpPr>
        <p:spPr>
          <a:xfrm>
            <a:off x="5669280" y="2377440"/>
            <a:ext cx="777240" cy="77724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14" name="Future 3 icon" descr="Fu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3590" y="2571750"/>
            <a:ext cx="388620" cy="388620"/>
          </a:xfrm>
          <a:prstGeom prst="rect">
            <a:avLst/>
          </a:prstGeom>
        </p:spPr>
      </p:pic>
      <p:sp>
        <p:nvSpPr>
          <p:cNvPr id="15" name="Future title 3"/>
          <p:cNvSpPr txBox="1"/>
          <p:nvPr/>
        </p:nvSpPr>
        <p:spPr>
          <a:xfrm>
            <a:off x="5166360" y="34747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Per-image scale</a:t>
            </a:r>
            <a:endParaRPr lang="en-US" sz="2000" dirty="0"/>
          </a:p>
        </p:txBody>
      </p:sp>
      <p:sp>
        <p:nvSpPr>
          <p:cNvPr id="16" name="Future card 4"/>
          <p:cNvSpPr/>
          <p:nvPr/>
        </p:nvSpPr>
        <p:spPr>
          <a:xfrm>
            <a:off x="7269480" y="2011680"/>
            <a:ext cx="2057400" cy="27432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Future 4 circle"/>
          <p:cNvSpPr/>
          <p:nvPr/>
        </p:nvSpPr>
        <p:spPr>
          <a:xfrm>
            <a:off x="7909560" y="2377440"/>
            <a:ext cx="777240" cy="7772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8" name="Future 4 icon" descr="Fu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3870" y="2571750"/>
            <a:ext cx="388620" cy="388620"/>
          </a:xfrm>
          <a:prstGeom prst="rect">
            <a:avLst/>
          </a:prstGeom>
        </p:spPr>
      </p:pic>
      <p:sp>
        <p:nvSpPr>
          <p:cNvPr id="19" name="Future title 4"/>
          <p:cNvSpPr txBox="1"/>
          <p:nvPr/>
        </p:nvSpPr>
        <p:spPr>
          <a:xfrm>
            <a:off x="7406640" y="34747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model</a:t>
            </a:r>
            <a:endParaRPr lang="en-US" sz="2000" dirty="0"/>
          </a:p>
        </p:txBody>
      </p:sp>
      <p:sp>
        <p:nvSpPr>
          <p:cNvPr id="20" name="Future card 5"/>
          <p:cNvSpPr/>
          <p:nvPr/>
        </p:nvSpPr>
        <p:spPr>
          <a:xfrm>
            <a:off x="9509760" y="201168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FDF1DC"/>
          </a:solidFill>
          <a:ln w="6350">
            <a:solidFill>
              <a:srgbClr val="FDF1DC"/>
            </a:solidFill>
            <a:prstDash val="solid"/>
          </a:ln>
        </p:spPr>
      </p:sp>
      <p:sp>
        <p:nvSpPr>
          <p:cNvPr id="21" name="Future 5 circle"/>
          <p:cNvSpPr/>
          <p:nvPr/>
        </p:nvSpPr>
        <p:spPr>
          <a:xfrm>
            <a:off x="10149840" y="2377440"/>
            <a:ext cx="777240" cy="7772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22" name="Future 5 icon" descr="Fu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4150" y="2571750"/>
            <a:ext cx="388620" cy="388620"/>
          </a:xfrm>
          <a:prstGeom prst="rect">
            <a:avLst/>
          </a:prstGeom>
        </p:spPr>
      </p:pic>
      <p:sp>
        <p:nvSpPr>
          <p:cNvPr id="23" name="Future title 5"/>
          <p:cNvSpPr txBox="1"/>
          <p:nvPr/>
        </p:nvSpPr>
        <p:spPr>
          <a:xfrm>
            <a:off x="9646920" y="34747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Concl width"/>
          <p:cNvSpPr/>
          <p:nvPr/>
        </p:nvSpPr>
        <p:spPr>
          <a:xfrm>
            <a:off x="54864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Concl width value"/>
          <p:cNvSpPr txBox="1"/>
          <p:nvPr/>
        </p:nvSpPr>
        <p:spPr>
          <a:xfrm>
            <a:off x="731520" y="1691640"/>
            <a:ext cx="3200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 px</a:t>
            </a:r>
            <a:endParaRPr lang="en-US" sz="4000" dirty="0"/>
          </a:p>
        </p:txBody>
      </p:sp>
      <p:sp>
        <p:nvSpPr>
          <p:cNvPr id="6" name="Concl width label"/>
          <p:cNvSpPr txBox="1"/>
          <p:nvPr/>
        </p:nvSpPr>
        <p:spPr>
          <a:xfrm>
            <a:off x="731520" y="2915107"/>
            <a:ext cx="3200400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width accuracy (synthetic)</a:t>
            </a:r>
            <a:endParaRPr lang="en-US" sz="1400" dirty="0"/>
          </a:p>
        </p:txBody>
      </p:sp>
      <p:sp>
        <p:nvSpPr>
          <p:cNvPr id="7" name="Concl speed"/>
          <p:cNvSpPr/>
          <p:nvPr/>
        </p:nvSpPr>
        <p:spPr>
          <a:xfrm>
            <a:off x="429768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Concl speed value"/>
          <p:cNvSpPr txBox="1"/>
          <p:nvPr/>
        </p:nvSpPr>
        <p:spPr>
          <a:xfrm>
            <a:off x="4480560" y="1691640"/>
            <a:ext cx="3200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0.2 s</a:t>
            </a:r>
            <a:endParaRPr lang="en-US" sz="4000" dirty="0"/>
          </a:p>
        </p:txBody>
      </p:sp>
      <p:sp>
        <p:nvSpPr>
          <p:cNvPr id="9" name="Concl speed label"/>
          <p:cNvSpPr txBox="1"/>
          <p:nvPr/>
        </p:nvSpPr>
        <p:spPr>
          <a:xfrm>
            <a:off x="4480560" y="2915107"/>
            <a:ext cx="3200400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per 1600 × 1200 image</a:t>
            </a:r>
            <a:endParaRPr lang="en-US" sz="1400" dirty="0"/>
          </a:p>
        </p:txBody>
      </p:sp>
      <p:sp>
        <p:nvSpPr>
          <p:cNvPr id="10" name="Concl tests"/>
          <p:cNvSpPr/>
          <p:nvPr/>
        </p:nvSpPr>
        <p:spPr>
          <a:xfrm>
            <a:off x="804672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Concl tests value"/>
          <p:cNvSpPr txBox="1"/>
          <p:nvPr/>
        </p:nvSpPr>
        <p:spPr>
          <a:xfrm>
            <a:off x="8229600" y="1691640"/>
            <a:ext cx="3200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16</a:t>
            </a:r>
            <a:endParaRPr lang="en-US" sz="4000" dirty="0"/>
          </a:p>
        </p:txBody>
      </p:sp>
      <p:sp>
        <p:nvSpPr>
          <p:cNvPr id="12" name="Concl tests label"/>
          <p:cNvSpPr txBox="1"/>
          <p:nvPr/>
        </p:nvSpPr>
        <p:spPr>
          <a:xfrm>
            <a:off x="8229600" y="2915107"/>
            <a:ext cx="3200400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automated tests passed</a:t>
            </a:r>
            <a:endParaRPr lang="en-US" sz="1400" dirty="0"/>
          </a:p>
        </p:txBody>
      </p:sp>
      <p:sp>
        <p:nvSpPr>
          <p:cNvPr id="13" name="Takeaway 1 circle"/>
          <p:cNvSpPr/>
          <p:nvPr/>
        </p:nvSpPr>
        <p:spPr>
          <a:xfrm>
            <a:off x="548640" y="4297680"/>
            <a:ext cx="640080" cy="64008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4" name="Takeaway 1 icon" descr="Takeaway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4457700"/>
            <a:ext cx="320040" cy="320040"/>
          </a:xfrm>
          <a:prstGeom prst="rect">
            <a:avLst/>
          </a:prstGeom>
        </p:spPr>
      </p:pic>
      <p:sp>
        <p:nvSpPr>
          <p:cNvPr id="15" name="Takeaway text 1"/>
          <p:cNvSpPr txBox="1"/>
          <p:nvPr/>
        </p:nvSpPr>
        <p:spPr>
          <a:xfrm>
            <a:off x="1371600" y="4297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Detects and measures cracks</a:t>
            </a:r>
            <a:endParaRPr lang="en-US" sz="1900" dirty="0"/>
          </a:p>
        </p:txBody>
      </p:sp>
      <p:sp>
        <p:nvSpPr>
          <p:cNvPr id="16" name="Takeaway 2 circle"/>
          <p:cNvSpPr/>
          <p:nvPr/>
        </p:nvSpPr>
        <p:spPr>
          <a:xfrm>
            <a:off x="4297680" y="429768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7" name="Takeaway 2 icon" descr="Takeaway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4457700"/>
            <a:ext cx="320040" cy="320040"/>
          </a:xfrm>
          <a:prstGeom prst="rect">
            <a:avLst/>
          </a:prstGeom>
        </p:spPr>
      </p:pic>
      <p:sp>
        <p:nvSpPr>
          <p:cNvPr id="18" name="Takeaway text 2"/>
          <p:cNvSpPr txBox="1"/>
          <p:nvPr/>
        </p:nvSpPr>
        <p:spPr>
          <a:xfrm>
            <a:off x="5120640" y="4297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Every stage is visible</a:t>
            </a:r>
            <a:endParaRPr lang="en-US" sz="1900" dirty="0"/>
          </a:p>
        </p:txBody>
      </p:sp>
      <p:sp>
        <p:nvSpPr>
          <p:cNvPr id="19" name="Takeaway 3 circle"/>
          <p:cNvSpPr/>
          <p:nvPr/>
        </p:nvSpPr>
        <p:spPr>
          <a:xfrm>
            <a:off x="8046720" y="4297680"/>
            <a:ext cx="640080" cy="64008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20" name="Takeaway 3 icon" descr="Takeaway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6740" y="4457700"/>
            <a:ext cx="320040" cy="320040"/>
          </a:xfrm>
          <a:prstGeom prst="rect">
            <a:avLst/>
          </a:prstGeom>
        </p:spPr>
      </p:pic>
      <p:sp>
        <p:nvSpPr>
          <p:cNvPr id="21" name="Takeaway text 3"/>
          <p:cNvSpPr txBox="1"/>
          <p:nvPr/>
        </p:nvSpPr>
        <p:spPr>
          <a:xfrm>
            <a:off x="8869680" y="4297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CSV, PDF and ZIP reports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hanks"/>
          <p:cNvSpPr txBox="1"/>
          <p:nvPr/>
        </p:nvSpPr>
        <p:spPr>
          <a:xfrm>
            <a:off x="822960" y="16459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Questions"/>
          <p:cNvSpPr txBox="1"/>
          <p:nvPr/>
        </p:nvSpPr>
        <p:spPr>
          <a:xfrm>
            <a:off x="82296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chemeClr val="accent1"/>
                </a:solidFill>
              </a:rPr>
              <a:t>Questions?</a:t>
            </a:r>
            <a:endParaRPr lang="en-US" sz="3200" dirty="0"/>
          </a:p>
        </p:txBody>
      </p:sp>
      <p:sp>
        <p:nvSpPr>
          <p:cNvPr id="5" name="Contact"/>
          <p:cNvSpPr txBox="1"/>
          <p:nvPr/>
        </p:nvSpPr>
        <p:spPr>
          <a:xfrm>
            <a:off x="822960" y="42062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PATEL MAN VISHNUBHAI · 25IC03CA053</a:t>
            </a:r>
            <a:endParaRPr lang="en-US" sz="1600" dirty="0"/>
          </a:p>
        </p:txBody>
      </p:sp>
      <p:pic>
        <p:nvPicPr>
          <p:cNvPr id="6" name="Closing image" descr="Annotated crack resul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645920"/>
            <a:ext cx="3840480" cy="2560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ncrete Road">
  <a:themeElements>
    <a:clrScheme name="Concrete Road">
      <a:dk1>
        <a:srgbClr val="22262B"/>
      </a:dk1>
      <a:lt1>
        <a:srgbClr val="FFFFFF"/>
      </a:lt1>
      <a:dk2>
        <a:srgbClr val="3B4550"/>
      </a:dk2>
      <a:lt2>
        <a:srgbClr val="EEF0F2"/>
      </a:lt2>
      <a:accent1>
        <a:srgbClr val="F5A623"/>
      </a:accent1>
      <a:accent2>
        <a:srgbClr val="2F8F83"/>
      </a:accent2>
      <a:accent3>
        <a:srgbClr val="4A90C2"/>
      </a:accent3>
      <a:accent4>
        <a:srgbClr val="C0392B"/>
      </a:accent4>
      <a:accent5>
        <a:srgbClr val="5E9E4B"/>
      </a:accent5>
      <a:accent6>
        <a:srgbClr val="8892A0"/>
      </a:accent6>
      <a:hlink>
        <a:srgbClr val="2F8F83"/>
      </a:hlink>
      <a:folHlink>
        <a:srgbClr val="8892A0"/>
      </a:folHlink>
    </a:clrScheme>
    <a:fontScheme name="Concrete Roa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2523</Words>
  <Application>Microsoft Office PowerPoint</Application>
  <PresentationFormat>Widescreen</PresentationFormat>
  <Paragraphs>854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3" baseType="lpstr">
      <vt:lpstr>Arial</vt:lpstr>
      <vt:lpstr>Calibri</vt:lpstr>
      <vt:lpstr>Cambria</vt:lpstr>
      <vt:lpstr>Concrete Road</vt:lpstr>
      <vt:lpstr>PowerPoint Presentation</vt:lpstr>
      <vt:lpstr>Contents</vt:lpstr>
      <vt:lpstr>Project Overview</vt:lpstr>
      <vt:lpstr>Project at a glance</vt:lpstr>
      <vt:lpstr>Cracks are early warning signs</vt:lpstr>
      <vt:lpstr>Objectives</vt:lpstr>
      <vt:lpstr>Which model is used?</vt:lpstr>
      <vt:lpstr>Classical vs deep learning</vt:lpstr>
      <vt:lpstr>Technology &amp; Design</vt:lpstr>
      <vt:lpstr>Technology stack</vt:lpstr>
      <vt:lpstr>Technology at a glance</vt:lpstr>
      <vt:lpstr>Layered architecture</vt:lpstr>
      <vt:lpstr>How a user works with it</vt:lpstr>
      <vt:lpstr>Data flow and use cases</vt:lpstr>
      <vt:lpstr>Processing Pipeline</vt:lpstr>
      <vt:lpstr>Pipeline overview</vt:lpstr>
      <vt:lpstr>Steps 1 to 6: prepare the image</vt:lpstr>
      <vt:lpstr>Steps 7 to 11: measure the crack</vt:lpstr>
      <vt:lpstr>Every stage is saved as an image</vt:lpstr>
      <vt:lpstr>Threshold: crack becomes white</vt:lpstr>
      <vt:lpstr>Clean up and keep crack shapes</vt:lpstr>
      <vt:lpstr>Images with no crack are rejected</vt:lpstr>
      <vt:lpstr>The Nine Models</vt:lpstr>
      <vt:lpstr>Nine models at a glance</vt:lpstr>
      <vt:lpstr>Models 1 to 3: find the crack</vt:lpstr>
      <vt:lpstr>Models 4 to 6: clean and verify</vt:lpstr>
      <vt:lpstr>Models 7 to 9: measure and grade</vt:lpstr>
      <vt:lpstr>Skeleton and distance transform</vt:lpstr>
      <vt:lpstr>Worked example: a 5 px bar</vt:lpstr>
      <vt:lpstr>Measurements and units</vt:lpstr>
      <vt:lpstr>Severity: Good, Medium, Heavy</vt:lpstr>
      <vt:lpstr>Database</vt:lpstr>
      <vt:lpstr>Three collections</vt:lpstr>
      <vt:lpstr>Analysis collection</vt:lpstr>
      <vt:lpstr>Image collection</vt:lpstr>
      <vt:lpstr>Measurement collection</vt:lpstr>
      <vt:lpstr>Entity relationship diagram</vt:lpstr>
      <vt:lpstr>Implementation</vt:lpstr>
      <vt:lpstr>Project folders</vt:lpstr>
      <vt:lpstr>The services folder</vt:lpstr>
      <vt:lpstr>Code size by folder</vt:lpstr>
      <vt:lpstr>Two main pages</vt:lpstr>
      <vt:lpstr>Upload page and results page</vt:lpstr>
      <vt:lpstr>Results page: image by image</vt:lpstr>
      <vt:lpstr>Reports: CSV, PDF, ZIP</vt:lpstr>
      <vt:lpstr>How to run</vt:lpstr>
      <vt:lpstr>Testing &amp; Results</vt:lpstr>
      <vt:lpstr>Testing summary</vt:lpstr>
      <vt:lpstr>Width accuracy</vt:lpstr>
      <vt:lpstr>Error for each width</vt:lpstr>
      <vt:lpstr>Faint cracks are missed</vt:lpstr>
      <vt:lpstr>Length error depends on angle</vt:lpstr>
      <vt:lpstr>Speed</vt:lpstr>
      <vt:lpstr>Result on a test image</vt:lpstr>
      <vt:lpstr>Wrap-up</vt:lpstr>
      <vt:lpstr>Known limitations</vt:lpstr>
      <vt:lpstr>Future scope</vt:lpstr>
      <vt:lpstr>Conclusion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OpenCV-Based System for Crack Identification and Width Estimation</dc:title>
  <dc:subject>PptxGenJS Presentation</dc:subject>
  <dc:creator>PATEL MAN VISHNUBHAI</dc:creator>
  <cp:lastModifiedBy>Man Patel</cp:lastModifiedBy>
  <cp:revision>3</cp:revision>
  <dcterms:created xsi:type="dcterms:W3CDTF">2026-10-28T03:41:56Z</dcterms:created>
  <dcterms:modified xsi:type="dcterms:W3CDTF">2026-10-28T16:08:37Z</dcterms:modified>
</cp:coreProperties>
</file>